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31005" y="204786"/>
            <a:ext cx="2273621" cy="61786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999320"/>
            <a:ext cx="18288000" cy="3072765"/>
          </a:xfrm>
          <a:custGeom>
            <a:avLst/>
            <a:gdLst/>
            <a:ahLst/>
            <a:cxnLst/>
            <a:rect l="l" t="t" r="r" b="b"/>
            <a:pathLst>
              <a:path w="18288000" h="3072765">
                <a:moveTo>
                  <a:pt x="18287998" y="3072288"/>
                </a:moveTo>
                <a:lnTo>
                  <a:pt x="0" y="3072288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072288"/>
                </a:lnTo>
                <a:close/>
              </a:path>
            </a:pathLst>
          </a:custGeom>
          <a:solidFill>
            <a:srgbClr val="C4DF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31005" y="204786"/>
            <a:ext cx="2273621" cy="6178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516" y="60542"/>
            <a:ext cx="13445800" cy="11497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11279" y="2706706"/>
            <a:ext cx="11967844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600" y="365211"/>
            <a:ext cx="17820640" cy="865124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0"/>
              </a:spcBef>
            </a:pPr>
            <a:r>
              <a:rPr sz="3400" b="1" dirty="0">
                <a:latin typeface="Calibri"/>
                <a:cs typeface="Calibri"/>
              </a:rPr>
              <a:t>Reference</a:t>
            </a:r>
            <a:r>
              <a:rPr sz="3400" b="1" spc="-9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ID:</a:t>
            </a:r>
            <a:r>
              <a:rPr sz="3400" b="1" spc="-8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INC25ETN082650</a:t>
            </a:r>
            <a:endParaRPr sz="3400" dirty="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855"/>
              </a:spcBef>
            </a:pPr>
            <a:r>
              <a:rPr sz="3400" b="1" dirty="0">
                <a:latin typeface="Calibri"/>
                <a:cs typeface="Calibri"/>
              </a:rPr>
              <a:t>Theme: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Low-</a:t>
            </a:r>
            <a:r>
              <a:rPr sz="3400" b="1" dirty="0">
                <a:latin typeface="Calibri"/>
                <a:cs typeface="Calibri"/>
              </a:rPr>
              <a:t>Carbon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footprint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solutions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/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technologies</a:t>
            </a:r>
            <a:endParaRPr sz="3400" dirty="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950"/>
              </a:spcBef>
            </a:pPr>
            <a:r>
              <a:rPr sz="3400" b="1" dirty="0">
                <a:latin typeface="Calibri"/>
                <a:cs typeface="Calibri"/>
              </a:rPr>
              <a:t>Project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Title: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FireNet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Sentinel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Pods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–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An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IoT-</a:t>
            </a:r>
            <a:r>
              <a:rPr sz="3400" b="1" dirty="0">
                <a:latin typeface="Calibri"/>
                <a:cs typeface="Calibri"/>
              </a:rPr>
              <a:t>Based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Forest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Fire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Detection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and</a:t>
            </a:r>
            <a:r>
              <a:rPr sz="3400" b="1" spc="-7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First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Response</a:t>
            </a:r>
            <a:r>
              <a:rPr sz="3400" b="1" spc="-80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System</a:t>
            </a:r>
            <a:endParaRPr sz="3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70"/>
              </a:spcBef>
            </a:pPr>
            <a:endParaRPr sz="3400" dirty="0">
              <a:latin typeface="Calibri"/>
              <a:cs typeface="Calibri"/>
            </a:endParaRPr>
          </a:p>
          <a:p>
            <a:pPr marL="6073140">
              <a:lnSpc>
                <a:spcPct val="100000"/>
              </a:lnSpc>
            </a:pPr>
            <a:r>
              <a:rPr sz="5400" dirty="0">
                <a:latin typeface="Arial MT"/>
                <a:cs typeface="Arial MT"/>
              </a:rPr>
              <a:t>MSME</a:t>
            </a:r>
            <a:r>
              <a:rPr sz="5400" spc="-45" dirty="0">
                <a:latin typeface="Arial MT"/>
                <a:cs typeface="Arial MT"/>
              </a:rPr>
              <a:t> </a:t>
            </a:r>
            <a:r>
              <a:rPr sz="5400" dirty="0">
                <a:latin typeface="Arial MT"/>
                <a:cs typeface="Arial MT"/>
              </a:rPr>
              <a:t>Idea</a:t>
            </a:r>
            <a:r>
              <a:rPr sz="5400" spc="-45" dirty="0">
                <a:latin typeface="Arial MT"/>
                <a:cs typeface="Arial MT"/>
              </a:rPr>
              <a:t> </a:t>
            </a:r>
            <a:r>
              <a:rPr sz="5400" dirty="0">
                <a:latin typeface="Arial MT"/>
                <a:cs typeface="Arial MT"/>
              </a:rPr>
              <a:t>Hackathon</a:t>
            </a:r>
            <a:r>
              <a:rPr sz="5400" spc="-40" dirty="0">
                <a:latin typeface="Arial MT"/>
                <a:cs typeface="Arial MT"/>
              </a:rPr>
              <a:t> </a:t>
            </a:r>
            <a:r>
              <a:rPr sz="5400" spc="-25" dirty="0">
                <a:latin typeface="Arial MT"/>
                <a:cs typeface="Arial MT"/>
              </a:rPr>
              <a:t>5.0</a:t>
            </a:r>
            <a:endParaRPr sz="5400" dirty="0">
              <a:latin typeface="Arial MT"/>
              <a:cs typeface="Arial MT"/>
            </a:endParaRPr>
          </a:p>
          <a:p>
            <a:pPr marL="6931025">
              <a:lnSpc>
                <a:spcPct val="100000"/>
              </a:lnSpc>
              <a:spcBef>
                <a:spcPts val="1860"/>
              </a:spcBef>
            </a:pPr>
            <a:r>
              <a:rPr sz="3600" dirty="0">
                <a:latin typeface="Arial MT"/>
                <a:cs typeface="Arial MT"/>
              </a:rPr>
              <a:t>Smart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and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Sustainable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MSMEs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3600" dirty="0">
              <a:latin typeface="Arial MT"/>
              <a:cs typeface="Arial MT"/>
            </a:endParaRPr>
          </a:p>
          <a:p>
            <a:pPr marL="9702165" algn="just">
              <a:lnSpc>
                <a:spcPct val="100000"/>
              </a:lnSpc>
            </a:pPr>
            <a:r>
              <a:rPr sz="3000" b="1" dirty="0">
                <a:latin typeface="Calibri"/>
                <a:cs typeface="Calibri"/>
              </a:rPr>
              <a:t>Name: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Priyavarshini</a:t>
            </a:r>
            <a:r>
              <a:rPr sz="3000" b="1" spc="565" dirty="0">
                <a:latin typeface="Calibri"/>
                <a:cs typeface="Calibri"/>
              </a:rPr>
              <a:t> </a:t>
            </a:r>
            <a:r>
              <a:rPr sz="3000" b="1" spc="-50" dirty="0">
                <a:latin typeface="Calibri"/>
                <a:cs typeface="Calibri"/>
              </a:rPr>
              <a:t>V</a:t>
            </a:r>
            <a:endParaRPr sz="3000" dirty="0">
              <a:latin typeface="Calibri"/>
              <a:cs typeface="Calibri"/>
            </a:endParaRPr>
          </a:p>
          <a:p>
            <a:pPr marL="9702165" marR="581025" algn="just">
              <a:lnSpc>
                <a:spcPct val="150000"/>
              </a:lnSpc>
            </a:pPr>
            <a:r>
              <a:rPr sz="3000" b="1" dirty="0">
                <a:latin typeface="Calibri"/>
                <a:cs typeface="Calibri"/>
              </a:rPr>
              <a:t>Designation: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B.E.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CSE(AI&amp;ML)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-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2</a:t>
            </a:r>
            <a:r>
              <a:rPr sz="2700" b="1" baseline="38580" dirty="0">
                <a:latin typeface="Calibri"/>
                <a:cs typeface="Calibri"/>
              </a:rPr>
              <a:t>nd</a:t>
            </a:r>
            <a:r>
              <a:rPr sz="2700" b="1" spc="390" baseline="385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Year</a:t>
            </a:r>
            <a:r>
              <a:rPr sz="3000" b="1" spc="-10" dirty="0">
                <a:latin typeface="Calibri"/>
                <a:cs typeface="Calibri"/>
              </a:rPr>
              <a:t> Student </a:t>
            </a:r>
            <a:r>
              <a:rPr sz="3000" b="1" dirty="0">
                <a:latin typeface="Calibri"/>
                <a:cs typeface="Calibri"/>
              </a:rPr>
              <a:t>Organization: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Sri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Eshwar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College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Engineering </a:t>
            </a:r>
            <a:r>
              <a:rPr sz="3000" b="1" dirty="0">
                <a:latin typeface="Calibri"/>
                <a:cs typeface="Calibri"/>
              </a:rPr>
              <a:t>Location: </a:t>
            </a:r>
            <a:r>
              <a:rPr sz="3000" b="1" spc="-10" dirty="0">
                <a:latin typeface="Calibri"/>
                <a:cs typeface="Calibri"/>
              </a:rPr>
              <a:t>Coimbatore</a:t>
            </a:r>
            <a:endParaRPr sz="3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79" y="3085045"/>
            <a:ext cx="3604240" cy="28529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44599" y="9626601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3155" y="9626601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02062" y="96266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916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pc="540" dirty="0"/>
              <a:t>Problem</a:t>
            </a:r>
            <a:r>
              <a:rPr spc="270" dirty="0"/>
              <a:t> </a:t>
            </a:r>
            <a:r>
              <a:rPr spc="57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211" y="1551849"/>
            <a:ext cx="123825" cy="123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6515" y="1218253"/>
            <a:ext cx="14929485" cy="3077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9906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latin typeface="Calibri"/>
                <a:cs typeface="Calibri"/>
              </a:rPr>
              <a:t>India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loses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millions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of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hectares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of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forest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fires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every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year,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causing </a:t>
            </a:r>
            <a:r>
              <a:rPr sz="4000" dirty="0">
                <a:latin typeface="Calibri"/>
                <a:cs typeface="Calibri"/>
              </a:rPr>
              <a:t>biodiversity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loss,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livelihood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damage,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 large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CO₂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emissions.</a:t>
            </a:r>
            <a:endParaRPr sz="4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4000" dirty="0">
                <a:latin typeface="Calibri"/>
                <a:cs typeface="Calibri"/>
              </a:rPr>
              <a:t>Existing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monitoring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(satellites,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drones,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manual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watchtowers)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is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delayed, </a:t>
            </a:r>
            <a:r>
              <a:rPr sz="4000" dirty="0">
                <a:latin typeface="Calibri"/>
                <a:cs typeface="Calibri"/>
              </a:rPr>
              <a:t>expensive,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or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inefficient.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latin typeface="Calibri"/>
                <a:cs typeface="Calibri"/>
              </a:rPr>
              <a:t>Response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time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is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too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slow,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leading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uncontrolled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spread.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211" y="2771049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211" y="3990249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211" y="4599849"/>
            <a:ext cx="123825" cy="1238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740039" y="4266252"/>
            <a:ext cx="186690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latin typeface="Calibri"/>
                <a:cs typeface="Calibri"/>
              </a:rPr>
              <a:t>methods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616" y="4266252"/>
            <a:ext cx="13724255" cy="21545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10310" marR="508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latin typeface="Calibri"/>
                <a:cs typeface="Calibri"/>
              </a:rPr>
              <a:t>Forest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fires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are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frequent,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devastating,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current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detection </a:t>
            </a:r>
            <a:r>
              <a:rPr sz="4000" dirty="0">
                <a:latin typeface="Calibri"/>
                <a:cs typeface="Calibri"/>
              </a:rPr>
              <a:t>fail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speed, cost,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 </a:t>
            </a:r>
            <a:r>
              <a:rPr sz="4000" spc="-10" dirty="0">
                <a:latin typeface="Calibri"/>
                <a:cs typeface="Calibri"/>
              </a:rPr>
              <a:t>accessibility.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4800" b="1" spc="525" dirty="0">
                <a:latin typeface="Trebuchet MS"/>
                <a:cs typeface="Trebuchet MS"/>
              </a:rPr>
              <a:t>Theme</a:t>
            </a:r>
            <a:endParaRPr sz="48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719" y="6927057"/>
            <a:ext cx="123825" cy="1238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66725" y="6593555"/>
            <a:ext cx="14978380" cy="3537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latin typeface="Calibri"/>
                <a:cs typeface="Calibri"/>
              </a:rPr>
              <a:t>Hackathon</a:t>
            </a:r>
            <a:r>
              <a:rPr sz="4000" spc="-2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Theme: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Low-</a:t>
            </a:r>
            <a:r>
              <a:rPr sz="4000" dirty="0">
                <a:latin typeface="Calibri"/>
                <a:cs typeface="Calibri"/>
              </a:rPr>
              <a:t>carbon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footprint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solutions/technologies</a:t>
            </a:r>
            <a:endParaRPr sz="4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4000" dirty="0">
                <a:latin typeface="Calibri"/>
                <a:cs typeface="Calibri"/>
              </a:rPr>
              <a:t>Forest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fire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prevention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=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reduction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CO₂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emissions,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ecosystem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loss,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and </a:t>
            </a:r>
            <a:r>
              <a:rPr sz="4000" dirty="0">
                <a:latin typeface="Calibri"/>
                <a:cs typeface="Calibri"/>
              </a:rPr>
              <a:t>economic</a:t>
            </a:r>
            <a:r>
              <a:rPr sz="4000" spc="-2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damage.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latin typeface="Calibri"/>
                <a:cs typeface="Calibri"/>
              </a:rPr>
              <a:t>Aligns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with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India’s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Net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Zero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2070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Vision.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latin typeface="Calibri"/>
                <a:cs typeface="Calibri"/>
              </a:rPr>
              <a:t>FireNet</a:t>
            </a:r>
            <a:r>
              <a:rPr sz="4000" spc="-2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directly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supports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carbon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footprint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reduction.</a:t>
            </a:r>
            <a:endParaRPr sz="4000">
              <a:latin typeface="Calibri"/>
              <a:cs typeface="Calibri"/>
            </a:endParaRPr>
          </a:p>
          <a:p>
            <a:pPr marR="15875" algn="ctr">
              <a:lnSpc>
                <a:spcPct val="100000"/>
              </a:lnSpc>
              <a:spcBef>
                <a:spcPts val="147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719" y="7536657"/>
            <a:ext cx="123825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719" y="8755857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719" y="9365457"/>
            <a:ext cx="123825" cy="1238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-12700" y="9900444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902062" y="96266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916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pc="595" dirty="0"/>
              <a:t>Market</a:t>
            </a:r>
            <a:r>
              <a:rPr spc="245" dirty="0"/>
              <a:t> </a:t>
            </a:r>
            <a:r>
              <a:rPr spc="484" dirty="0"/>
              <a:t>Size</a:t>
            </a:r>
            <a:r>
              <a:rPr spc="250" dirty="0"/>
              <a:t> </a:t>
            </a:r>
            <a:r>
              <a:rPr spc="625" dirty="0"/>
              <a:t>and</a:t>
            </a:r>
            <a:r>
              <a:rPr spc="245" dirty="0"/>
              <a:t> </a:t>
            </a:r>
            <a:r>
              <a:rPr spc="505" dirty="0"/>
              <a:t>Statistics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12" y="2007417"/>
            <a:ext cx="144903" cy="1449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22302" y="1635979"/>
            <a:ext cx="15462885" cy="74320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37465">
              <a:lnSpc>
                <a:spcPts val="5300"/>
              </a:lnSpc>
              <a:spcBef>
                <a:spcPts val="315"/>
              </a:spcBef>
            </a:pPr>
            <a:r>
              <a:rPr sz="4450" dirty="0">
                <a:latin typeface="Calibri"/>
                <a:cs typeface="Calibri"/>
              </a:rPr>
              <a:t>The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Global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Wildfire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Management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Market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was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valued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at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$9.4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billion </a:t>
            </a:r>
            <a:r>
              <a:rPr sz="4450" dirty="0">
                <a:latin typeface="Calibri"/>
                <a:cs typeface="Calibri"/>
              </a:rPr>
              <a:t>in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2023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and</a:t>
            </a:r>
            <a:r>
              <a:rPr sz="4450" spc="-4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is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projected</a:t>
            </a:r>
            <a:r>
              <a:rPr sz="4450" spc="-4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to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reach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$17.1</a:t>
            </a:r>
            <a:r>
              <a:rPr sz="4450" spc="-4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billion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by</a:t>
            </a:r>
            <a:r>
              <a:rPr sz="4450" spc="-4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2032,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growing</a:t>
            </a:r>
            <a:r>
              <a:rPr sz="4450" spc="-45" dirty="0">
                <a:latin typeface="Calibri"/>
                <a:cs typeface="Calibri"/>
              </a:rPr>
              <a:t> </a:t>
            </a:r>
            <a:r>
              <a:rPr sz="4450" spc="-25" dirty="0">
                <a:latin typeface="Calibri"/>
                <a:cs typeface="Calibri"/>
              </a:rPr>
              <a:t>at </a:t>
            </a:r>
            <a:r>
              <a:rPr sz="4450" dirty="0">
                <a:latin typeface="Calibri"/>
                <a:cs typeface="Calibri"/>
              </a:rPr>
              <a:t>a</a:t>
            </a:r>
            <a:r>
              <a:rPr sz="4450" spc="-4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CAGR</a:t>
            </a:r>
            <a:r>
              <a:rPr sz="4450" spc="-3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of</a:t>
            </a:r>
            <a:r>
              <a:rPr sz="4450" spc="-35" dirty="0">
                <a:latin typeface="Calibri"/>
                <a:cs typeface="Calibri"/>
              </a:rPr>
              <a:t> </a:t>
            </a:r>
            <a:r>
              <a:rPr sz="4450" spc="-20" dirty="0">
                <a:latin typeface="Calibri"/>
                <a:cs typeface="Calibri"/>
              </a:rPr>
              <a:t>~7%.</a:t>
            </a:r>
            <a:endParaRPr sz="4450">
              <a:latin typeface="Calibri"/>
              <a:cs typeface="Calibri"/>
            </a:endParaRPr>
          </a:p>
          <a:p>
            <a:pPr marL="12700">
              <a:lnSpc>
                <a:spcPts val="5100"/>
              </a:lnSpc>
            </a:pPr>
            <a:r>
              <a:rPr sz="4450" dirty="0">
                <a:latin typeface="Calibri"/>
                <a:cs typeface="Calibri"/>
              </a:rPr>
              <a:t>According</a:t>
            </a:r>
            <a:r>
              <a:rPr sz="4450" spc="-6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to</a:t>
            </a:r>
            <a:r>
              <a:rPr sz="4450" spc="-6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the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Forest</a:t>
            </a:r>
            <a:r>
              <a:rPr sz="4450" spc="-6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Survey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of</a:t>
            </a:r>
            <a:r>
              <a:rPr sz="4450" spc="-6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India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(FSI),</a:t>
            </a:r>
            <a:r>
              <a:rPr sz="4450" spc="-6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3.4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million</a:t>
            </a:r>
            <a:r>
              <a:rPr sz="4450" spc="-6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hectares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spc="-25" dirty="0">
                <a:latin typeface="Calibri"/>
                <a:cs typeface="Calibri"/>
              </a:rPr>
              <a:t>of</a:t>
            </a:r>
            <a:endParaRPr sz="4450">
              <a:latin typeface="Calibri"/>
              <a:cs typeface="Calibri"/>
            </a:endParaRPr>
          </a:p>
          <a:p>
            <a:pPr marL="12700" marR="478155">
              <a:lnSpc>
                <a:spcPts val="5300"/>
              </a:lnSpc>
              <a:spcBef>
                <a:spcPts val="185"/>
              </a:spcBef>
            </a:pPr>
            <a:r>
              <a:rPr sz="4450" dirty="0">
                <a:latin typeface="Calibri"/>
                <a:cs typeface="Calibri"/>
              </a:rPr>
              <a:t>forest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land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are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affected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annually,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with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over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50%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of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India’s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forests </a:t>
            </a:r>
            <a:r>
              <a:rPr sz="4450" dirty="0">
                <a:latin typeface="Calibri"/>
                <a:cs typeface="Calibri"/>
              </a:rPr>
              <a:t>vulnerable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to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fire.</a:t>
            </a:r>
            <a:endParaRPr sz="4450">
              <a:latin typeface="Calibri"/>
              <a:cs typeface="Calibri"/>
            </a:endParaRPr>
          </a:p>
          <a:p>
            <a:pPr marL="12700">
              <a:lnSpc>
                <a:spcPts val="5105"/>
              </a:lnSpc>
            </a:pPr>
            <a:r>
              <a:rPr sz="4450" dirty="0">
                <a:latin typeface="Calibri"/>
                <a:cs typeface="Calibri"/>
              </a:rPr>
              <a:t>Economic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losses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caused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by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wildfires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amount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to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more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than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spc="-25" dirty="0">
                <a:latin typeface="Calibri"/>
                <a:cs typeface="Calibri"/>
              </a:rPr>
              <a:t>$30</a:t>
            </a:r>
            <a:endParaRPr sz="4450">
              <a:latin typeface="Calibri"/>
              <a:cs typeface="Calibri"/>
            </a:endParaRPr>
          </a:p>
          <a:p>
            <a:pPr marL="12700">
              <a:lnSpc>
                <a:spcPts val="5295"/>
              </a:lnSpc>
            </a:pPr>
            <a:r>
              <a:rPr sz="4450" dirty="0">
                <a:latin typeface="Calibri"/>
                <a:cs typeface="Calibri"/>
              </a:rPr>
              <a:t>billion</a:t>
            </a:r>
            <a:r>
              <a:rPr sz="4450" spc="-9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globally</a:t>
            </a:r>
            <a:r>
              <a:rPr sz="4450" spc="-9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every</a:t>
            </a:r>
            <a:r>
              <a:rPr sz="4450" spc="-90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year.</a:t>
            </a:r>
            <a:endParaRPr sz="4450">
              <a:latin typeface="Calibri"/>
              <a:cs typeface="Calibri"/>
            </a:endParaRPr>
          </a:p>
          <a:p>
            <a:pPr marL="12700" marR="567055">
              <a:lnSpc>
                <a:spcPts val="5300"/>
              </a:lnSpc>
              <a:spcBef>
                <a:spcPts val="114"/>
              </a:spcBef>
            </a:pPr>
            <a:r>
              <a:rPr sz="4450" dirty="0">
                <a:latin typeface="Calibri"/>
                <a:cs typeface="Calibri"/>
              </a:rPr>
              <a:t>Rising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climate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change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effects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are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increasing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the</a:t>
            </a:r>
            <a:r>
              <a:rPr sz="4450" spc="-70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frequency, </a:t>
            </a:r>
            <a:r>
              <a:rPr sz="4450" dirty="0">
                <a:latin typeface="Calibri"/>
                <a:cs typeface="Calibri"/>
              </a:rPr>
              <a:t>intensity,</a:t>
            </a:r>
            <a:r>
              <a:rPr sz="4450" spc="-60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and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spread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of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forest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fires,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further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enlarging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the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market </a:t>
            </a:r>
            <a:r>
              <a:rPr sz="4450" dirty="0">
                <a:latin typeface="Calibri"/>
                <a:cs typeface="Calibri"/>
              </a:rPr>
              <a:t>opportunity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for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spc="-20" dirty="0">
                <a:latin typeface="Calibri"/>
                <a:cs typeface="Calibri"/>
              </a:rPr>
              <a:t>cost-</a:t>
            </a:r>
            <a:r>
              <a:rPr sz="4450" dirty="0">
                <a:latin typeface="Calibri"/>
                <a:cs typeface="Calibri"/>
              </a:rPr>
              <a:t>effective,</a:t>
            </a:r>
            <a:r>
              <a:rPr sz="4450" spc="-50" dirty="0">
                <a:latin typeface="Calibri"/>
                <a:cs typeface="Calibri"/>
              </a:rPr>
              <a:t> </a:t>
            </a:r>
            <a:r>
              <a:rPr sz="4450" spc="-20" dirty="0">
                <a:latin typeface="Calibri"/>
                <a:cs typeface="Calibri"/>
              </a:rPr>
              <a:t>community-</a:t>
            </a:r>
            <a:r>
              <a:rPr sz="4450" dirty="0">
                <a:latin typeface="Calibri"/>
                <a:cs typeface="Calibri"/>
              </a:rPr>
              <a:t>driven</a:t>
            </a:r>
            <a:r>
              <a:rPr sz="4450" spc="-55" dirty="0">
                <a:latin typeface="Calibri"/>
                <a:cs typeface="Calibri"/>
              </a:rPr>
              <a:t> </a:t>
            </a:r>
            <a:r>
              <a:rPr sz="4450" spc="-10" dirty="0">
                <a:latin typeface="Calibri"/>
                <a:cs typeface="Calibri"/>
              </a:rPr>
              <a:t>solutions.</a:t>
            </a:r>
            <a:endParaRPr sz="44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12" y="4025709"/>
            <a:ext cx="144903" cy="1449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712" y="6044000"/>
            <a:ext cx="144903" cy="1449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712" y="7389528"/>
            <a:ext cx="144903" cy="14490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4599" y="9626601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9677" y="9626601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02062" y="96266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916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pc="665" dirty="0"/>
              <a:t>Gap</a:t>
            </a:r>
            <a:r>
              <a:rPr spc="254" dirty="0"/>
              <a:t> </a:t>
            </a:r>
            <a:r>
              <a:rPr spc="509" dirty="0"/>
              <a:t>Analyzed</a:t>
            </a:r>
            <a:r>
              <a:rPr spc="254" dirty="0"/>
              <a:t> </a:t>
            </a:r>
            <a:r>
              <a:rPr spc="440" dirty="0"/>
              <a:t>with</a:t>
            </a:r>
            <a:r>
              <a:rPr spc="254" dirty="0"/>
              <a:t> </a:t>
            </a:r>
            <a:r>
              <a:rPr spc="515" dirty="0"/>
              <a:t>Existing</a:t>
            </a:r>
            <a:r>
              <a:rPr spc="260" dirty="0"/>
              <a:t> </a:t>
            </a:r>
            <a:r>
              <a:rPr spc="535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4883" y="6996786"/>
            <a:ext cx="15658465" cy="313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4965"/>
              </a:lnSpc>
              <a:spcBef>
                <a:spcPts val="130"/>
              </a:spcBef>
            </a:pPr>
            <a:r>
              <a:rPr sz="4150" b="1" dirty="0">
                <a:latin typeface="Calibri"/>
                <a:cs typeface="Calibri"/>
              </a:rPr>
              <a:t>Gap</a:t>
            </a:r>
            <a:r>
              <a:rPr sz="4150" b="1" spc="5" dirty="0">
                <a:latin typeface="Calibri"/>
                <a:cs typeface="Calibri"/>
              </a:rPr>
              <a:t> </a:t>
            </a:r>
            <a:r>
              <a:rPr sz="4150" b="1" spc="-10" dirty="0">
                <a:latin typeface="Calibri"/>
                <a:cs typeface="Calibri"/>
              </a:rPr>
              <a:t>Identified:</a:t>
            </a:r>
            <a:endParaRPr sz="4150">
              <a:latin typeface="Calibri"/>
              <a:cs typeface="Calibri"/>
            </a:endParaRPr>
          </a:p>
          <a:p>
            <a:pPr marL="852805" marR="5080">
              <a:lnSpc>
                <a:spcPts val="4950"/>
              </a:lnSpc>
              <a:spcBef>
                <a:spcPts val="175"/>
              </a:spcBef>
            </a:pPr>
            <a:r>
              <a:rPr sz="4150" dirty="0">
                <a:latin typeface="Calibri"/>
                <a:cs typeface="Calibri"/>
              </a:rPr>
              <a:t>There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is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no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spc="-35" dirty="0">
                <a:latin typeface="Calibri"/>
                <a:cs typeface="Calibri"/>
              </a:rPr>
              <a:t>low-</a:t>
            </a:r>
            <a:r>
              <a:rPr sz="4150" dirty="0">
                <a:latin typeface="Calibri"/>
                <a:cs typeface="Calibri"/>
              </a:rPr>
              <a:t>cost,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decentralized,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spc="-50" dirty="0">
                <a:latin typeface="Calibri"/>
                <a:cs typeface="Calibri"/>
              </a:rPr>
              <a:t>first-</a:t>
            </a:r>
            <a:r>
              <a:rPr sz="4150" dirty="0">
                <a:latin typeface="Calibri"/>
                <a:cs typeface="Calibri"/>
              </a:rPr>
              <a:t>response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solution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spc="-20" dirty="0">
                <a:latin typeface="Calibri"/>
                <a:cs typeface="Calibri"/>
              </a:rPr>
              <a:t>that </a:t>
            </a:r>
            <a:r>
              <a:rPr sz="4150" dirty="0">
                <a:latin typeface="Calibri"/>
                <a:cs typeface="Calibri"/>
              </a:rPr>
              <a:t>enables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both</a:t>
            </a:r>
            <a:r>
              <a:rPr sz="4150" spc="-4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early</a:t>
            </a:r>
            <a:r>
              <a:rPr sz="4150" spc="-3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detection</a:t>
            </a:r>
            <a:r>
              <a:rPr sz="4150" spc="-4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and</a:t>
            </a:r>
            <a:r>
              <a:rPr sz="4150" spc="-4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immediate</a:t>
            </a:r>
            <a:r>
              <a:rPr sz="4150" spc="-3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localized</a:t>
            </a:r>
            <a:r>
              <a:rPr sz="4150" spc="-4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suppression</a:t>
            </a:r>
            <a:r>
              <a:rPr sz="4150" spc="-35" dirty="0">
                <a:latin typeface="Calibri"/>
                <a:cs typeface="Calibri"/>
              </a:rPr>
              <a:t> </a:t>
            </a:r>
            <a:r>
              <a:rPr sz="4150" spc="-25" dirty="0">
                <a:latin typeface="Calibri"/>
                <a:cs typeface="Calibri"/>
              </a:rPr>
              <a:t>of </a:t>
            </a:r>
            <a:r>
              <a:rPr sz="4150" dirty="0">
                <a:latin typeface="Calibri"/>
                <a:cs typeface="Calibri"/>
              </a:rPr>
              <a:t>fires</a:t>
            </a:r>
            <a:r>
              <a:rPr sz="4150" spc="-8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before</a:t>
            </a:r>
            <a:r>
              <a:rPr sz="4150" spc="-8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they</a:t>
            </a:r>
            <a:r>
              <a:rPr sz="4150" spc="-8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escalate</a:t>
            </a:r>
            <a:r>
              <a:rPr sz="4150" spc="-8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into</a:t>
            </a:r>
            <a:r>
              <a:rPr sz="4150" spc="-85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disasters.</a:t>
            </a:r>
            <a:endParaRPr sz="4150">
              <a:latin typeface="Calibri"/>
              <a:cs typeface="Calibri"/>
            </a:endParaRPr>
          </a:p>
          <a:p>
            <a:pPr marL="62230">
              <a:lnSpc>
                <a:spcPct val="100000"/>
              </a:lnSpc>
              <a:spcBef>
                <a:spcPts val="2300"/>
              </a:spcBef>
              <a:tabLst>
                <a:tab pos="6637020" algn="l"/>
              </a:tabLst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	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02062" y="96266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815" y="1920755"/>
            <a:ext cx="133350" cy="133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17257" y="1577061"/>
            <a:ext cx="14691994" cy="50634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243204">
              <a:lnSpc>
                <a:spcPts val="4950"/>
              </a:lnSpc>
              <a:spcBef>
                <a:spcPts val="320"/>
              </a:spcBef>
            </a:pPr>
            <a:r>
              <a:rPr sz="4150" dirty="0">
                <a:latin typeface="Calibri"/>
                <a:cs typeface="Calibri"/>
              </a:rPr>
              <a:t>Satellite</a:t>
            </a:r>
            <a:r>
              <a:rPr sz="4150" spc="-9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Monitoring:</a:t>
            </a:r>
            <a:r>
              <a:rPr sz="4150" spc="-9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Provides</a:t>
            </a:r>
            <a:r>
              <a:rPr sz="4150" spc="-90" dirty="0">
                <a:latin typeface="Calibri"/>
                <a:cs typeface="Calibri"/>
              </a:rPr>
              <a:t> </a:t>
            </a:r>
            <a:r>
              <a:rPr sz="4150" spc="-25" dirty="0">
                <a:latin typeface="Calibri"/>
                <a:cs typeface="Calibri"/>
              </a:rPr>
              <a:t>large-</a:t>
            </a:r>
            <a:r>
              <a:rPr sz="4150" dirty="0">
                <a:latin typeface="Calibri"/>
                <a:cs typeface="Calibri"/>
              </a:rPr>
              <a:t>scale</a:t>
            </a:r>
            <a:r>
              <a:rPr sz="4150" spc="-9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coverage</a:t>
            </a:r>
            <a:r>
              <a:rPr sz="4150" spc="-9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but</a:t>
            </a:r>
            <a:r>
              <a:rPr sz="4150" spc="-9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suffers</a:t>
            </a:r>
            <a:r>
              <a:rPr sz="4150" spc="-90" dirty="0">
                <a:latin typeface="Calibri"/>
                <a:cs typeface="Calibri"/>
              </a:rPr>
              <a:t> </a:t>
            </a:r>
            <a:r>
              <a:rPr sz="4150" spc="-20" dirty="0">
                <a:latin typeface="Calibri"/>
                <a:cs typeface="Calibri"/>
              </a:rPr>
              <a:t>from </a:t>
            </a:r>
            <a:r>
              <a:rPr sz="4150" dirty="0">
                <a:latin typeface="Calibri"/>
                <a:cs typeface="Calibri"/>
              </a:rPr>
              <a:t>detection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delays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(fires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identified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only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after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significant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spread).</a:t>
            </a:r>
            <a:endParaRPr sz="4150">
              <a:latin typeface="Calibri"/>
              <a:cs typeface="Calibri"/>
            </a:endParaRPr>
          </a:p>
          <a:p>
            <a:pPr marL="12700" marR="688975">
              <a:lnSpc>
                <a:spcPts val="4950"/>
              </a:lnSpc>
            </a:pPr>
            <a:r>
              <a:rPr sz="4150" dirty="0">
                <a:latin typeface="Calibri"/>
                <a:cs typeface="Calibri"/>
              </a:rPr>
              <a:t>Drone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Surveillance: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High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precision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but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expensive,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requires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skilled operators,</a:t>
            </a:r>
            <a:r>
              <a:rPr sz="4150" spc="-6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and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cannot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cover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wide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areas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continuously.</a:t>
            </a:r>
            <a:endParaRPr sz="4150">
              <a:latin typeface="Calibri"/>
              <a:cs typeface="Calibri"/>
            </a:endParaRPr>
          </a:p>
          <a:p>
            <a:pPr marL="12700" marR="1135380">
              <a:lnSpc>
                <a:spcPts val="4950"/>
              </a:lnSpc>
            </a:pPr>
            <a:r>
              <a:rPr sz="4150" dirty="0">
                <a:latin typeface="Calibri"/>
                <a:cs typeface="Calibri"/>
              </a:rPr>
              <a:t>Manual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spc="-25" dirty="0">
                <a:latin typeface="Calibri"/>
                <a:cs typeface="Calibri"/>
              </a:rPr>
              <a:t>Watchtowers/Patrols: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spc="-35" dirty="0">
                <a:latin typeface="Calibri"/>
                <a:cs typeface="Calibri"/>
              </a:rPr>
              <a:t>Low-</a:t>
            </a:r>
            <a:r>
              <a:rPr sz="4150" dirty="0">
                <a:latin typeface="Calibri"/>
                <a:cs typeface="Calibri"/>
              </a:rPr>
              <a:t>cost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but</a:t>
            </a:r>
            <a:r>
              <a:rPr sz="4150" spc="-5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inefficient,</a:t>
            </a:r>
            <a:r>
              <a:rPr sz="4150" spc="-50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human- </a:t>
            </a:r>
            <a:r>
              <a:rPr sz="4150" dirty="0">
                <a:latin typeface="Calibri"/>
                <a:cs typeface="Calibri"/>
              </a:rPr>
              <a:t>dependent,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and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prone</a:t>
            </a:r>
            <a:r>
              <a:rPr sz="4150" spc="-4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to</a:t>
            </a:r>
            <a:r>
              <a:rPr sz="4150" spc="-4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late</a:t>
            </a:r>
            <a:r>
              <a:rPr sz="4150" spc="-40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reporting.</a:t>
            </a:r>
            <a:endParaRPr sz="4150">
              <a:latin typeface="Calibri"/>
              <a:cs typeface="Calibri"/>
            </a:endParaRPr>
          </a:p>
          <a:p>
            <a:pPr marL="12700" marR="5080">
              <a:lnSpc>
                <a:spcPts val="4950"/>
              </a:lnSpc>
            </a:pPr>
            <a:r>
              <a:rPr sz="4150" dirty="0">
                <a:latin typeface="Calibri"/>
                <a:cs typeface="Calibri"/>
              </a:rPr>
              <a:t>Aerial</a:t>
            </a:r>
            <a:r>
              <a:rPr sz="4150" spc="-7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Firefighting</a:t>
            </a:r>
            <a:r>
              <a:rPr sz="4150" spc="-6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(water</a:t>
            </a:r>
            <a:r>
              <a:rPr sz="4150" spc="-6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bombing/chemicals):</a:t>
            </a:r>
            <a:r>
              <a:rPr sz="4150" spc="-70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Effective</a:t>
            </a:r>
            <a:r>
              <a:rPr sz="4150" spc="-6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only</a:t>
            </a:r>
            <a:r>
              <a:rPr sz="4150" spc="-6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at</a:t>
            </a:r>
            <a:r>
              <a:rPr sz="4150" spc="-65" dirty="0">
                <a:latin typeface="Calibri"/>
                <a:cs typeface="Calibri"/>
              </a:rPr>
              <a:t> </a:t>
            </a:r>
            <a:r>
              <a:rPr sz="4150" spc="-20" dirty="0">
                <a:latin typeface="Calibri"/>
                <a:cs typeface="Calibri"/>
              </a:rPr>
              <a:t>later </a:t>
            </a:r>
            <a:r>
              <a:rPr sz="4150" dirty="0">
                <a:latin typeface="Calibri"/>
                <a:cs typeface="Calibri"/>
              </a:rPr>
              <a:t>stages,</a:t>
            </a:r>
            <a:r>
              <a:rPr sz="4150" spc="-10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extremely</a:t>
            </a:r>
            <a:r>
              <a:rPr sz="4150" spc="-100" dirty="0">
                <a:latin typeface="Calibri"/>
                <a:cs typeface="Calibri"/>
              </a:rPr>
              <a:t> </a:t>
            </a:r>
            <a:r>
              <a:rPr sz="4150" spc="-25" dirty="0">
                <a:latin typeface="Calibri"/>
                <a:cs typeface="Calibri"/>
              </a:rPr>
              <a:t>costly,</a:t>
            </a:r>
            <a:r>
              <a:rPr sz="4150" spc="-100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and</a:t>
            </a:r>
            <a:r>
              <a:rPr sz="4150" spc="-105" dirty="0">
                <a:latin typeface="Calibri"/>
                <a:cs typeface="Calibri"/>
              </a:rPr>
              <a:t> </a:t>
            </a:r>
            <a:r>
              <a:rPr sz="4150" dirty="0">
                <a:latin typeface="Calibri"/>
                <a:cs typeface="Calibri"/>
              </a:rPr>
              <a:t>logistically</a:t>
            </a:r>
            <a:r>
              <a:rPr sz="4150" spc="-100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complex.</a:t>
            </a:r>
            <a:endParaRPr sz="41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8815" y="3178055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8815" y="4435355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8815" y="5692655"/>
            <a:ext cx="13335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6" y="182652"/>
            <a:ext cx="6341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85" dirty="0"/>
              <a:t>Proposed</a:t>
            </a:r>
            <a:r>
              <a:rPr spc="254" dirty="0"/>
              <a:t> </a:t>
            </a:r>
            <a:r>
              <a:rPr spc="505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053" y="2652713"/>
            <a:ext cx="133349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053" y="3795712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053" y="4367212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053" y="6072187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053" y="7215187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0053" y="7786687"/>
            <a:ext cx="133349" cy="1333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616" y="1162114"/>
            <a:ext cx="17405985" cy="896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10"/>
              </a:lnSpc>
              <a:spcBef>
                <a:spcPts val="100"/>
              </a:spcBef>
            </a:pPr>
            <a:r>
              <a:rPr sz="4100" dirty="0">
                <a:latin typeface="Calibri"/>
                <a:cs typeface="Calibri"/>
              </a:rPr>
              <a:t>FireNet</a:t>
            </a:r>
            <a:r>
              <a:rPr sz="4100" spc="-114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Sentinel</a:t>
            </a:r>
            <a:r>
              <a:rPr sz="4100" spc="-114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Pods</a:t>
            </a:r>
            <a:r>
              <a:rPr sz="4100" spc="-114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is</a:t>
            </a:r>
            <a:r>
              <a:rPr sz="4100" spc="-114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a</a:t>
            </a:r>
            <a:r>
              <a:rPr sz="4100" spc="-114" dirty="0">
                <a:latin typeface="Calibri"/>
                <a:cs typeface="Calibri"/>
              </a:rPr>
              <a:t> </a:t>
            </a:r>
            <a:r>
              <a:rPr sz="4100" b="1" spc="-25" dirty="0">
                <a:latin typeface="Calibri"/>
                <a:cs typeface="Calibri"/>
              </a:rPr>
              <a:t>two-</a:t>
            </a:r>
            <a:r>
              <a:rPr sz="4100" b="1" dirty="0">
                <a:latin typeface="Calibri"/>
                <a:cs typeface="Calibri"/>
              </a:rPr>
              <a:t>stage</a:t>
            </a:r>
            <a:r>
              <a:rPr sz="4100" b="1" spc="-114" dirty="0">
                <a:latin typeface="Calibri"/>
                <a:cs typeface="Calibri"/>
              </a:rPr>
              <a:t> </a:t>
            </a:r>
            <a:r>
              <a:rPr sz="4100" b="1" dirty="0">
                <a:latin typeface="Calibri"/>
                <a:cs typeface="Calibri"/>
              </a:rPr>
              <a:t>first</a:t>
            </a:r>
            <a:r>
              <a:rPr sz="4100" b="1" spc="-110" dirty="0">
                <a:latin typeface="Calibri"/>
                <a:cs typeface="Calibri"/>
              </a:rPr>
              <a:t> </a:t>
            </a:r>
            <a:r>
              <a:rPr sz="4100" b="1" dirty="0">
                <a:latin typeface="Calibri"/>
                <a:cs typeface="Calibri"/>
              </a:rPr>
              <a:t>response</a:t>
            </a:r>
            <a:r>
              <a:rPr sz="4100" b="1" spc="-114" dirty="0">
                <a:latin typeface="Calibri"/>
                <a:cs typeface="Calibri"/>
              </a:rPr>
              <a:t> </a:t>
            </a:r>
            <a:r>
              <a:rPr sz="4100" b="1" spc="-10" dirty="0">
                <a:latin typeface="Calibri"/>
                <a:cs typeface="Calibri"/>
              </a:rPr>
              <a:t>system</a:t>
            </a:r>
            <a:r>
              <a:rPr sz="4100" spc="-10" dirty="0">
                <a:latin typeface="Calibri"/>
                <a:cs typeface="Calibri"/>
              </a:rPr>
              <a:t>:</a:t>
            </a:r>
            <a:endParaRPr sz="4100">
              <a:latin typeface="Calibri"/>
              <a:cs typeface="Calibri"/>
            </a:endParaRPr>
          </a:p>
          <a:p>
            <a:pPr marL="810895" indent="-403225">
              <a:lnSpc>
                <a:spcPts val="4410"/>
              </a:lnSpc>
              <a:buFont typeface="Calibri"/>
              <a:buAutoNum type="arabicPeriod"/>
              <a:tabLst>
                <a:tab pos="810895" algn="l"/>
              </a:tabLst>
            </a:pPr>
            <a:r>
              <a:rPr sz="3700" b="1" dirty="0">
                <a:latin typeface="Calibri"/>
                <a:cs typeface="Calibri"/>
              </a:rPr>
              <a:t>Stage</a:t>
            </a:r>
            <a:r>
              <a:rPr sz="3700" b="1" spc="-85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1</a:t>
            </a:r>
            <a:r>
              <a:rPr sz="3700" b="1" spc="-85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–</a:t>
            </a:r>
            <a:r>
              <a:rPr sz="3700" b="1" spc="-85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Detection</a:t>
            </a:r>
            <a:r>
              <a:rPr sz="3700" b="1" spc="-80" dirty="0">
                <a:latin typeface="Calibri"/>
                <a:cs typeface="Calibri"/>
              </a:rPr>
              <a:t> </a:t>
            </a:r>
            <a:r>
              <a:rPr sz="3700" b="1" spc="-20" dirty="0">
                <a:latin typeface="Calibri"/>
                <a:cs typeface="Calibri"/>
              </a:rPr>
              <a:t>Pods</a:t>
            </a:r>
            <a:endParaRPr sz="3700">
              <a:latin typeface="Calibri"/>
              <a:cs typeface="Calibri"/>
            </a:endParaRPr>
          </a:p>
          <a:p>
            <a:pPr marL="1652905" marR="229235">
              <a:lnSpc>
                <a:spcPts val="4500"/>
              </a:lnSpc>
              <a:spcBef>
                <a:spcPts val="180"/>
              </a:spcBef>
            </a:pPr>
            <a:r>
              <a:rPr sz="3800" spc="-40" dirty="0">
                <a:latin typeface="Calibri"/>
                <a:cs typeface="Calibri"/>
              </a:rPr>
              <a:t>Solar-</a:t>
            </a:r>
            <a:r>
              <a:rPr sz="3800" dirty="0">
                <a:latin typeface="Calibri"/>
                <a:cs typeface="Calibri"/>
              </a:rPr>
              <a:t>powered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IoT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devices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equipped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with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sensors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smoke,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heat,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CO₂,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and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gas </a:t>
            </a:r>
            <a:r>
              <a:rPr sz="3800" spc="-10" dirty="0">
                <a:latin typeface="Calibri"/>
                <a:cs typeface="Calibri"/>
              </a:rPr>
              <a:t>anomalies.</a:t>
            </a:r>
            <a:endParaRPr sz="3800">
              <a:latin typeface="Calibri"/>
              <a:cs typeface="Calibri"/>
            </a:endParaRPr>
          </a:p>
          <a:p>
            <a:pPr marL="1652905">
              <a:lnSpc>
                <a:spcPts val="4330"/>
              </a:lnSpc>
            </a:pPr>
            <a:r>
              <a:rPr sz="3800" dirty="0">
                <a:latin typeface="Calibri"/>
                <a:cs typeface="Calibri"/>
              </a:rPr>
              <a:t>Edge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AI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validates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abnormal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readings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reduce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false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alarms.</a:t>
            </a:r>
            <a:endParaRPr sz="3800">
              <a:latin typeface="Calibri"/>
              <a:cs typeface="Calibri"/>
            </a:endParaRPr>
          </a:p>
          <a:p>
            <a:pPr marL="1652905" marR="5080">
              <a:lnSpc>
                <a:spcPts val="4500"/>
              </a:lnSpc>
              <a:spcBef>
                <a:spcPts val="170"/>
              </a:spcBef>
            </a:pPr>
            <a:r>
              <a:rPr sz="3800" spc="-30" dirty="0">
                <a:latin typeface="Calibri"/>
                <a:cs typeface="Calibri"/>
              </a:rPr>
              <a:t>Real-</a:t>
            </a:r>
            <a:r>
              <a:rPr sz="3800" dirty="0">
                <a:latin typeface="Calibri"/>
                <a:cs typeface="Calibri"/>
              </a:rPr>
              <a:t>time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alerts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sent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via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GSM/LoRa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forest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rangers,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fire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departments,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and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local </a:t>
            </a:r>
            <a:r>
              <a:rPr sz="3800" spc="-10" dirty="0">
                <a:latin typeface="Calibri"/>
                <a:cs typeface="Calibri"/>
              </a:rPr>
              <a:t>villagers.</a:t>
            </a:r>
            <a:endParaRPr sz="3800">
              <a:latin typeface="Calibri"/>
              <a:cs typeface="Calibri"/>
            </a:endParaRPr>
          </a:p>
          <a:p>
            <a:pPr marL="810895" indent="-403225">
              <a:lnSpc>
                <a:spcPts val="4245"/>
              </a:lnSpc>
              <a:buFont typeface="Calibri"/>
              <a:buAutoNum type="arabicPeriod" startAt="2"/>
              <a:tabLst>
                <a:tab pos="810895" algn="l"/>
              </a:tabLst>
            </a:pPr>
            <a:r>
              <a:rPr sz="3700" b="1" dirty="0">
                <a:latin typeface="Calibri"/>
                <a:cs typeface="Calibri"/>
              </a:rPr>
              <a:t>Stage</a:t>
            </a:r>
            <a:r>
              <a:rPr sz="3700" b="1" spc="-100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2</a:t>
            </a:r>
            <a:r>
              <a:rPr sz="3700" b="1" spc="-100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–</a:t>
            </a:r>
            <a:r>
              <a:rPr sz="3700" b="1" spc="-95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Suppression</a:t>
            </a:r>
            <a:r>
              <a:rPr sz="3700" b="1" spc="-100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Pods</a:t>
            </a:r>
            <a:r>
              <a:rPr sz="3700" b="1" spc="-95" dirty="0">
                <a:latin typeface="Calibri"/>
                <a:cs typeface="Calibri"/>
              </a:rPr>
              <a:t> </a:t>
            </a:r>
            <a:r>
              <a:rPr sz="3700" b="1" dirty="0">
                <a:latin typeface="Calibri"/>
                <a:cs typeface="Calibri"/>
              </a:rPr>
              <a:t>(Future</a:t>
            </a:r>
            <a:r>
              <a:rPr sz="3700" b="1" spc="-100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Upgrade)</a:t>
            </a:r>
            <a:endParaRPr sz="3700">
              <a:latin typeface="Calibri"/>
              <a:cs typeface="Calibri"/>
            </a:endParaRPr>
          </a:p>
          <a:p>
            <a:pPr marL="1652905" marR="780415">
              <a:lnSpc>
                <a:spcPts val="4500"/>
              </a:lnSpc>
              <a:spcBef>
                <a:spcPts val="180"/>
              </a:spcBef>
            </a:pPr>
            <a:r>
              <a:rPr sz="3800" dirty="0">
                <a:latin typeface="Calibri"/>
                <a:cs typeface="Calibri"/>
              </a:rPr>
              <a:t>Compact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suppression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units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with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water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mist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spc="-30" dirty="0">
                <a:latin typeface="Calibri"/>
                <a:cs typeface="Calibri"/>
              </a:rPr>
              <a:t>sprayers,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sand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release,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or</a:t>
            </a:r>
            <a:r>
              <a:rPr sz="3800" spc="-110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bio-</a:t>
            </a:r>
            <a:r>
              <a:rPr sz="3800" spc="-25" dirty="0">
                <a:latin typeface="Calibri"/>
                <a:cs typeface="Calibri"/>
              </a:rPr>
              <a:t>gel </a:t>
            </a:r>
            <a:r>
              <a:rPr sz="3800" dirty="0">
                <a:latin typeface="Calibri"/>
                <a:cs typeface="Calibri"/>
              </a:rPr>
              <a:t>based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retardants.</a:t>
            </a:r>
            <a:endParaRPr sz="3800">
              <a:latin typeface="Calibri"/>
              <a:cs typeface="Calibri"/>
            </a:endParaRPr>
          </a:p>
          <a:p>
            <a:pPr marL="1652905" marR="4565650">
              <a:lnSpc>
                <a:spcPts val="4500"/>
              </a:lnSpc>
            </a:pPr>
            <a:r>
              <a:rPr sz="3800" spc="-30" dirty="0">
                <a:latin typeface="Calibri"/>
                <a:cs typeface="Calibri"/>
              </a:rPr>
              <a:t>Auto-</a:t>
            </a:r>
            <a:r>
              <a:rPr sz="3800" spc="-10" dirty="0">
                <a:latin typeface="Calibri"/>
                <a:cs typeface="Calibri"/>
              </a:rPr>
              <a:t>activated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when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early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flames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or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sparks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are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detected. </a:t>
            </a:r>
            <a:r>
              <a:rPr sz="3800" dirty="0">
                <a:latin typeface="Calibri"/>
                <a:cs typeface="Calibri"/>
              </a:rPr>
              <a:t>Provides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localized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containment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before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fire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spreads.</a:t>
            </a:r>
            <a:endParaRPr sz="3800">
              <a:latin typeface="Calibri"/>
              <a:cs typeface="Calibri"/>
            </a:endParaRPr>
          </a:p>
          <a:p>
            <a:pPr marL="12700" marR="57785">
              <a:lnSpc>
                <a:spcPts val="4500"/>
              </a:lnSpc>
              <a:spcBef>
                <a:spcPts val="1500"/>
              </a:spcBef>
            </a:pPr>
            <a:r>
              <a:rPr sz="3800" dirty="0">
                <a:latin typeface="Calibri"/>
                <a:cs typeface="Calibri"/>
              </a:rPr>
              <a:t>Core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Idea: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spc="-40" dirty="0">
                <a:latin typeface="Calibri"/>
                <a:cs typeface="Calibri"/>
              </a:rPr>
              <a:t>Low-</a:t>
            </a:r>
            <a:r>
              <a:rPr sz="3800" dirty="0">
                <a:latin typeface="Calibri"/>
                <a:cs typeface="Calibri"/>
              </a:rPr>
              <a:t>cost,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spc="-40" dirty="0">
                <a:latin typeface="Calibri"/>
                <a:cs typeface="Calibri"/>
              </a:rPr>
              <a:t>self-</a:t>
            </a:r>
            <a:r>
              <a:rPr sz="3800" spc="-10" dirty="0">
                <a:latin typeface="Calibri"/>
                <a:cs typeface="Calibri"/>
              </a:rPr>
              <a:t>sustained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pods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deployed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in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mesh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networks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across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forests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-114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act </a:t>
            </a:r>
            <a:r>
              <a:rPr sz="3800" dirty="0">
                <a:latin typeface="Calibri"/>
                <a:cs typeface="Calibri"/>
              </a:rPr>
              <a:t>as</a:t>
            </a:r>
            <a:r>
              <a:rPr sz="3800" spc="-65" dirty="0">
                <a:latin typeface="Calibri"/>
                <a:cs typeface="Calibri"/>
              </a:rPr>
              <a:t> </a:t>
            </a:r>
            <a:r>
              <a:rPr sz="3800" spc="-40" dirty="0">
                <a:latin typeface="Calibri"/>
                <a:cs typeface="Calibri"/>
              </a:rPr>
              <a:t>community-</a:t>
            </a:r>
            <a:r>
              <a:rPr sz="3800" dirty="0">
                <a:latin typeface="Calibri"/>
                <a:cs typeface="Calibri"/>
              </a:rPr>
              <a:t>driven</a:t>
            </a:r>
            <a:r>
              <a:rPr sz="3800" spc="-6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fire</a:t>
            </a:r>
            <a:r>
              <a:rPr sz="3800" spc="-6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guardians.</a:t>
            </a:r>
            <a:endParaRPr sz="3800">
              <a:latin typeface="Calibri"/>
              <a:cs typeface="Calibri"/>
            </a:endParaRPr>
          </a:p>
          <a:p>
            <a:pPr marL="16336010">
              <a:lnSpc>
                <a:spcPts val="1885"/>
              </a:lnSpc>
              <a:spcBef>
                <a:spcPts val="1725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  <a:p>
            <a:pPr marL="678180">
              <a:lnSpc>
                <a:spcPts val="1885"/>
              </a:lnSpc>
              <a:tabLst>
                <a:tab pos="7253605" algn="l"/>
              </a:tabLst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	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5561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pc="565" dirty="0"/>
              <a:t>Sustainable</a:t>
            </a:r>
            <a:r>
              <a:rPr spc="240" dirty="0"/>
              <a:t> </a:t>
            </a:r>
            <a:r>
              <a:rPr spc="560" dirty="0"/>
              <a:t>Development</a:t>
            </a:r>
            <a:r>
              <a:rPr spc="245" dirty="0"/>
              <a:t> </a:t>
            </a:r>
            <a:r>
              <a:rPr spc="595" dirty="0"/>
              <a:t>Goals</a:t>
            </a:r>
            <a:r>
              <a:rPr spc="245" dirty="0"/>
              <a:t> </a:t>
            </a:r>
            <a:r>
              <a:rPr spc="685" dirty="0"/>
              <a:t>(SDG)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4599" y="9626601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9677" y="9626601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02062" y="96266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899" y="2066925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899" y="2733674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899" y="3400425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899" y="4067174"/>
            <a:ext cx="142875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899" y="4733924"/>
            <a:ext cx="142875" cy="142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9249" y="6915150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9249" y="8210550"/>
            <a:ext cx="133350" cy="1333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78616" y="1705038"/>
            <a:ext cx="15060294" cy="74752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45235" marR="3271520">
              <a:lnSpc>
                <a:spcPts val="5250"/>
              </a:lnSpc>
              <a:spcBef>
                <a:spcPts val="300"/>
              </a:spcBef>
            </a:pPr>
            <a:r>
              <a:rPr sz="4400" dirty="0">
                <a:latin typeface="Calibri"/>
                <a:cs typeface="Calibri"/>
              </a:rPr>
              <a:t>Sustainable</a:t>
            </a:r>
            <a:r>
              <a:rPr sz="4400" spc="-1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Development</a:t>
            </a:r>
            <a:r>
              <a:rPr sz="4400" spc="-1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Goals</a:t>
            </a:r>
            <a:r>
              <a:rPr sz="4400" spc="-1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(SDGs)</a:t>
            </a:r>
            <a:r>
              <a:rPr sz="4400" spc="-16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Impact </a:t>
            </a:r>
            <a:r>
              <a:rPr sz="4400" dirty="0">
                <a:latin typeface="Calibri"/>
                <a:cs typeface="Calibri"/>
              </a:rPr>
              <a:t>SDG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13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–</a:t>
            </a:r>
            <a:r>
              <a:rPr sz="4400" spc="-4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Climate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Action</a:t>
            </a:r>
            <a:endParaRPr sz="4400">
              <a:latin typeface="Calibri"/>
              <a:cs typeface="Calibri"/>
            </a:endParaRPr>
          </a:p>
          <a:p>
            <a:pPr marL="1245235">
              <a:lnSpc>
                <a:spcPts val="5065"/>
              </a:lnSpc>
            </a:pPr>
            <a:r>
              <a:rPr sz="4400" dirty="0">
                <a:latin typeface="Calibri"/>
                <a:cs typeface="Calibri"/>
              </a:rPr>
              <a:t>SDG</a:t>
            </a:r>
            <a:r>
              <a:rPr sz="4400" spc="-4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15</a:t>
            </a:r>
            <a:r>
              <a:rPr sz="4400" spc="-3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–</a:t>
            </a:r>
            <a:r>
              <a:rPr sz="4400" spc="-3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4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on</a:t>
            </a:r>
            <a:r>
              <a:rPr sz="4400" spc="-35" dirty="0">
                <a:latin typeface="Calibri"/>
                <a:cs typeface="Calibri"/>
              </a:rPr>
              <a:t> </a:t>
            </a:r>
            <a:r>
              <a:rPr sz="4400" spc="-20" dirty="0">
                <a:latin typeface="Calibri"/>
                <a:cs typeface="Calibri"/>
              </a:rPr>
              <a:t>Land</a:t>
            </a:r>
            <a:endParaRPr sz="4400">
              <a:latin typeface="Calibri"/>
              <a:cs typeface="Calibri"/>
            </a:endParaRPr>
          </a:p>
          <a:p>
            <a:pPr marL="1245235" marR="3542029">
              <a:lnSpc>
                <a:spcPts val="5250"/>
              </a:lnSpc>
              <a:spcBef>
                <a:spcPts val="185"/>
              </a:spcBef>
            </a:pPr>
            <a:r>
              <a:rPr sz="4400" dirty="0">
                <a:latin typeface="Calibri"/>
                <a:cs typeface="Calibri"/>
              </a:rPr>
              <a:t>SDG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9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–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Industry,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Innovation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Infrastructure </a:t>
            </a:r>
            <a:r>
              <a:rPr sz="4400" dirty="0">
                <a:latin typeface="Calibri"/>
                <a:cs typeface="Calibri"/>
              </a:rPr>
              <a:t>SDG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11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–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Sustainable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Cities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Communities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85"/>
              </a:spcBef>
            </a:pPr>
            <a:r>
              <a:rPr sz="4800" b="1" spc="525" dirty="0">
                <a:latin typeface="Trebuchet MS"/>
                <a:cs typeface="Trebuchet MS"/>
              </a:rPr>
              <a:t>Technology</a:t>
            </a:r>
            <a:r>
              <a:rPr sz="4800" b="1" spc="245" dirty="0">
                <a:latin typeface="Trebuchet MS"/>
                <a:cs typeface="Trebuchet MS"/>
              </a:rPr>
              <a:t> </a:t>
            </a:r>
            <a:r>
              <a:rPr sz="4800" b="1" spc="595" dirty="0">
                <a:latin typeface="Trebuchet MS"/>
                <a:cs typeface="Trebuchet MS"/>
              </a:rPr>
              <a:t>Readiness</a:t>
            </a:r>
            <a:r>
              <a:rPr sz="4800" b="1" spc="250" dirty="0">
                <a:latin typeface="Trebuchet MS"/>
                <a:cs typeface="Trebuchet MS"/>
              </a:rPr>
              <a:t> </a:t>
            </a:r>
            <a:r>
              <a:rPr sz="4800" b="1" spc="430" dirty="0">
                <a:latin typeface="Trebuchet MS"/>
                <a:cs typeface="Trebuchet MS"/>
              </a:rPr>
              <a:t>Level</a:t>
            </a:r>
            <a:r>
              <a:rPr sz="4800" b="1" spc="250" dirty="0">
                <a:latin typeface="Trebuchet MS"/>
                <a:cs typeface="Trebuchet MS"/>
              </a:rPr>
              <a:t> </a:t>
            </a:r>
            <a:r>
              <a:rPr sz="4800" b="1" spc="450" dirty="0">
                <a:latin typeface="Trebuchet MS"/>
                <a:cs typeface="Trebuchet MS"/>
              </a:rPr>
              <a:t>(TRL)</a:t>
            </a:r>
            <a:endParaRPr sz="4800">
              <a:latin typeface="Trebuchet MS"/>
              <a:cs typeface="Trebuchet MS"/>
            </a:endParaRPr>
          </a:p>
          <a:p>
            <a:pPr marL="1377950" marR="5080">
              <a:lnSpc>
                <a:spcPts val="5100"/>
              </a:lnSpc>
              <a:spcBef>
                <a:spcPts val="2425"/>
              </a:spcBef>
            </a:pPr>
            <a:r>
              <a:rPr sz="4300" dirty="0">
                <a:latin typeface="Calibri"/>
                <a:cs typeface="Calibri"/>
              </a:rPr>
              <a:t>Detection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Pods: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TRL</a:t>
            </a:r>
            <a:r>
              <a:rPr sz="4300" spc="-8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5–6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(validated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prototype</a:t>
            </a:r>
            <a:r>
              <a:rPr sz="4300" spc="-8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ready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for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small- </a:t>
            </a:r>
            <a:r>
              <a:rPr sz="4300" dirty="0">
                <a:latin typeface="Calibri"/>
                <a:cs typeface="Calibri"/>
              </a:rPr>
              <a:t>scale</a:t>
            </a:r>
            <a:r>
              <a:rPr sz="4300" spc="-7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field</a:t>
            </a:r>
            <a:r>
              <a:rPr sz="4300" spc="-65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deployment).</a:t>
            </a:r>
            <a:endParaRPr sz="4300">
              <a:latin typeface="Calibri"/>
              <a:cs typeface="Calibri"/>
            </a:endParaRPr>
          </a:p>
          <a:p>
            <a:pPr marL="1377950" marR="729615">
              <a:lnSpc>
                <a:spcPts val="5100"/>
              </a:lnSpc>
            </a:pPr>
            <a:r>
              <a:rPr sz="4300" dirty="0">
                <a:latin typeface="Calibri"/>
                <a:cs typeface="Calibri"/>
              </a:rPr>
              <a:t>Suppression</a:t>
            </a:r>
            <a:r>
              <a:rPr sz="4300" spc="-9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Pods:</a:t>
            </a:r>
            <a:r>
              <a:rPr sz="4300" spc="-9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TRL</a:t>
            </a:r>
            <a:r>
              <a:rPr sz="4300" spc="-9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3–4</a:t>
            </a:r>
            <a:r>
              <a:rPr sz="4300" spc="-9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(conceptual</a:t>
            </a:r>
            <a:r>
              <a:rPr sz="4300" spc="-9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design</a:t>
            </a:r>
            <a:r>
              <a:rPr sz="4300" spc="-90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stage;</a:t>
            </a:r>
            <a:r>
              <a:rPr sz="4300" spc="-9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to</a:t>
            </a:r>
            <a:r>
              <a:rPr sz="4300" spc="-90" dirty="0">
                <a:latin typeface="Calibri"/>
                <a:cs typeface="Calibri"/>
              </a:rPr>
              <a:t> </a:t>
            </a:r>
            <a:r>
              <a:rPr sz="4300" spc="-25" dirty="0">
                <a:latin typeface="Calibri"/>
                <a:cs typeface="Calibri"/>
              </a:rPr>
              <a:t>be </a:t>
            </a:r>
            <a:r>
              <a:rPr sz="4300" dirty="0">
                <a:latin typeface="Calibri"/>
                <a:cs typeface="Calibri"/>
              </a:rPr>
              <a:t>developed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with</a:t>
            </a:r>
            <a:r>
              <a:rPr sz="4300" spc="-85" dirty="0">
                <a:latin typeface="Calibri"/>
                <a:cs typeface="Calibri"/>
              </a:rPr>
              <a:t> </a:t>
            </a:r>
            <a:r>
              <a:rPr sz="4300" dirty="0">
                <a:latin typeface="Calibri"/>
                <a:cs typeface="Calibri"/>
              </a:rPr>
              <a:t>pilot</a:t>
            </a:r>
            <a:r>
              <a:rPr sz="4300" spc="-80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testing).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066" y="60542"/>
            <a:ext cx="34486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0" dirty="0"/>
              <a:t>Prototype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9831387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9677" y="9900444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02062" y="96266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1771650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2305049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2838449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4048124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458152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511492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8601074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9134474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000" y="943038"/>
            <a:ext cx="14437994" cy="845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latin typeface="Calibri"/>
                <a:cs typeface="Calibri"/>
              </a:rPr>
              <a:t>Concept</a:t>
            </a:r>
            <a:r>
              <a:rPr sz="3500" b="1" spc="-85" dirty="0">
                <a:latin typeface="Calibri"/>
                <a:cs typeface="Calibri"/>
              </a:rPr>
              <a:t> </a:t>
            </a:r>
            <a:r>
              <a:rPr sz="3500" b="1" spc="-10" dirty="0">
                <a:latin typeface="Calibri"/>
                <a:cs typeface="Calibri"/>
              </a:rPr>
              <a:t>Design:</a:t>
            </a:r>
            <a:endParaRPr sz="3500">
              <a:latin typeface="Calibri"/>
              <a:cs typeface="Calibri"/>
            </a:endParaRPr>
          </a:p>
          <a:p>
            <a:pPr marL="767715">
              <a:lnSpc>
                <a:spcPct val="100000"/>
              </a:lnSpc>
            </a:pPr>
            <a:r>
              <a:rPr sz="3500" dirty="0">
                <a:latin typeface="Calibri"/>
                <a:cs typeface="Calibri"/>
              </a:rPr>
              <a:t>FireNet</a:t>
            </a:r>
            <a:r>
              <a:rPr sz="3500" spc="-12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Sentinel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Pod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spc="-35" dirty="0">
                <a:latin typeface="Calibri"/>
                <a:cs typeface="Calibri"/>
              </a:rPr>
              <a:t>(solar-</a:t>
            </a:r>
            <a:r>
              <a:rPr sz="3500" dirty="0">
                <a:latin typeface="Calibri"/>
                <a:cs typeface="Calibri"/>
              </a:rPr>
              <a:t>powered,</a:t>
            </a:r>
            <a:r>
              <a:rPr sz="3500" spc="-120" dirty="0">
                <a:latin typeface="Calibri"/>
                <a:cs typeface="Calibri"/>
              </a:rPr>
              <a:t> </a:t>
            </a:r>
            <a:r>
              <a:rPr sz="3500" spc="-90" dirty="0">
                <a:latin typeface="Calibri"/>
                <a:cs typeface="Calibri"/>
              </a:rPr>
              <a:t>IoT-</a:t>
            </a:r>
            <a:r>
              <a:rPr sz="3500" spc="-10" dirty="0">
                <a:latin typeface="Calibri"/>
                <a:cs typeface="Calibri"/>
              </a:rPr>
              <a:t>enabled).</a:t>
            </a:r>
            <a:endParaRPr sz="3500">
              <a:latin typeface="Calibri"/>
              <a:cs typeface="Calibri"/>
            </a:endParaRPr>
          </a:p>
          <a:p>
            <a:pPr marL="767715" marR="5080">
              <a:lnSpc>
                <a:spcPct val="100000"/>
              </a:lnSpc>
            </a:pPr>
            <a:r>
              <a:rPr sz="3500" dirty="0">
                <a:latin typeface="Calibri"/>
                <a:cs typeface="Calibri"/>
              </a:rPr>
              <a:t>Components:</a:t>
            </a:r>
            <a:r>
              <a:rPr sz="3500" spc="-14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smoke/heat/CO₂</a:t>
            </a:r>
            <a:r>
              <a:rPr sz="3500" spc="-14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sensors,</a:t>
            </a:r>
            <a:r>
              <a:rPr sz="3500" spc="-135" dirty="0">
                <a:latin typeface="Calibri"/>
                <a:cs typeface="Calibri"/>
              </a:rPr>
              <a:t> </a:t>
            </a:r>
            <a:r>
              <a:rPr sz="3500" spc="-40" dirty="0">
                <a:latin typeface="Calibri"/>
                <a:cs typeface="Calibri"/>
              </a:rPr>
              <a:t>microcontroller,</a:t>
            </a:r>
            <a:r>
              <a:rPr sz="3500" spc="-14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GSM/LoRa</a:t>
            </a:r>
            <a:r>
              <a:rPr sz="3500" spc="-13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module. </a:t>
            </a:r>
            <a:r>
              <a:rPr sz="3500" dirty="0">
                <a:latin typeface="Calibri"/>
                <a:cs typeface="Calibri"/>
              </a:rPr>
              <a:t>Future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extension: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mini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water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25" dirty="0">
                <a:latin typeface="Calibri"/>
                <a:cs typeface="Calibri"/>
              </a:rPr>
              <a:t>mist/sand/bio-</a:t>
            </a:r>
            <a:r>
              <a:rPr sz="3500" dirty="0">
                <a:latin typeface="Calibri"/>
                <a:cs typeface="Calibri"/>
              </a:rPr>
              <a:t>gel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suppression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unit.</a:t>
            </a: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3500" b="1" dirty="0">
                <a:latin typeface="Calibri"/>
                <a:cs typeface="Calibri"/>
              </a:rPr>
              <a:t>Current</a:t>
            </a:r>
            <a:r>
              <a:rPr sz="3500" b="1" spc="-145" dirty="0">
                <a:latin typeface="Calibri"/>
                <a:cs typeface="Calibri"/>
              </a:rPr>
              <a:t> </a:t>
            </a:r>
            <a:r>
              <a:rPr sz="3500" b="1" spc="-10" dirty="0">
                <a:latin typeface="Calibri"/>
                <a:cs typeface="Calibri"/>
              </a:rPr>
              <a:t>Status:</a:t>
            </a:r>
            <a:endParaRPr sz="3500">
              <a:latin typeface="Calibri"/>
              <a:cs typeface="Calibri"/>
            </a:endParaRPr>
          </a:p>
          <a:p>
            <a:pPr marL="767715">
              <a:lnSpc>
                <a:spcPct val="100000"/>
              </a:lnSpc>
            </a:pPr>
            <a:r>
              <a:rPr sz="3500" spc="-10" dirty="0">
                <a:latin typeface="Calibri"/>
                <a:cs typeface="Calibri"/>
              </a:rPr>
              <a:t>Prototype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not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physically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built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yet.</a:t>
            </a:r>
            <a:endParaRPr sz="3500">
              <a:latin typeface="Calibri"/>
              <a:cs typeface="Calibri"/>
            </a:endParaRPr>
          </a:p>
          <a:p>
            <a:pPr marL="767715" marR="2473960">
              <a:lnSpc>
                <a:spcPct val="100000"/>
              </a:lnSpc>
            </a:pPr>
            <a:r>
              <a:rPr sz="3500" dirty="0">
                <a:latin typeface="Calibri"/>
                <a:cs typeface="Calibri"/>
              </a:rPr>
              <a:t>Blueprint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workflow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prepared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with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identified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components. </a:t>
            </a:r>
            <a:r>
              <a:rPr sz="3500" dirty="0">
                <a:latin typeface="Calibri"/>
                <a:cs typeface="Calibri"/>
              </a:rPr>
              <a:t>Sensors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connectivity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modules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shortlisted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for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integration.</a:t>
            </a: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3500" b="1" dirty="0">
                <a:latin typeface="Calibri"/>
                <a:cs typeface="Calibri"/>
              </a:rPr>
              <a:t>Planned</a:t>
            </a:r>
            <a:r>
              <a:rPr sz="3500" b="1" spc="-110" dirty="0">
                <a:latin typeface="Calibri"/>
                <a:cs typeface="Calibri"/>
              </a:rPr>
              <a:t> </a:t>
            </a:r>
            <a:r>
              <a:rPr sz="3500" b="1" spc="-10" dirty="0">
                <a:latin typeface="Calibri"/>
                <a:cs typeface="Calibri"/>
              </a:rPr>
              <a:t>Development</a:t>
            </a:r>
            <a:r>
              <a:rPr sz="3500" b="1" spc="-105" dirty="0">
                <a:latin typeface="Calibri"/>
                <a:cs typeface="Calibri"/>
              </a:rPr>
              <a:t> </a:t>
            </a:r>
            <a:r>
              <a:rPr sz="3500" b="1" spc="-10" dirty="0">
                <a:latin typeface="Calibri"/>
                <a:cs typeface="Calibri"/>
              </a:rPr>
              <a:t>Roadmap:</a:t>
            </a:r>
            <a:endParaRPr sz="3500">
              <a:latin typeface="Calibri"/>
              <a:cs typeface="Calibri"/>
            </a:endParaRPr>
          </a:p>
          <a:p>
            <a:pPr marL="767080" indent="-381000">
              <a:lnSpc>
                <a:spcPct val="100000"/>
              </a:lnSpc>
              <a:buAutoNum type="arabicPeriod"/>
              <a:tabLst>
                <a:tab pos="767080" algn="l"/>
              </a:tabLst>
            </a:pPr>
            <a:r>
              <a:rPr sz="3500" dirty="0">
                <a:latin typeface="Calibri"/>
                <a:cs typeface="Calibri"/>
              </a:rPr>
              <a:t>Phase</a:t>
            </a:r>
            <a:r>
              <a:rPr sz="3500" spc="-4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1</a:t>
            </a:r>
            <a:r>
              <a:rPr sz="3500" spc="-4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–</a:t>
            </a:r>
            <a:r>
              <a:rPr sz="3500" spc="-4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Sensor</a:t>
            </a:r>
            <a:r>
              <a:rPr sz="3500" spc="-4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&amp;</a:t>
            </a:r>
            <a:r>
              <a:rPr sz="3500" spc="-45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microcontroller</a:t>
            </a:r>
            <a:r>
              <a:rPr sz="3500" spc="-4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integration.</a:t>
            </a:r>
            <a:endParaRPr sz="3500">
              <a:latin typeface="Calibri"/>
              <a:cs typeface="Calibri"/>
            </a:endParaRPr>
          </a:p>
          <a:p>
            <a:pPr marL="767080" indent="-381000">
              <a:lnSpc>
                <a:spcPct val="100000"/>
              </a:lnSpc>
              <a:buAutoNum type="arabicPeriod"/>
              <a:tabLst>
                <a:tab pos="767080" algn="l"/>
              </a:tabLst>
            </a:pPr>
            <a:r>
              <a:rPr sz="3500" dirty="0">
                <a:latin typeface="Calibri"/>
                <a:cs typeface="Calibri"/>
              </a:rPr>
              <a:t>Phase</a:t>
            </a:r>
            <a:r>
              <a:rPr sz="3500" spc="-6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2</a:t>
            </a:r>
            <a:r>
              <a:rPr sz="3500" spc="-6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–</a:t>
            </a:r>
            <a:r>
              <a:rPr sz="3500" spc="-6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Field</a:t>
            </a:r>
            <a:r>
              <a:rPr sz="3500" spc="-6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testing</a:t>
            </a:r>
            <a:r>
              <a:rPr sz="3500" spc="-6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</a:t>
            </a:r>
            <a:r>
              <a:rPr sz="3500" spc="-6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controlled</a:t>
            </a:r>
            <a:r>
              <a:rPr sz="3500" spc="-6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environment.</a:t>
            </a:r>
            <a:endParaRPr sz="3500">
              <a:latin typeface="Calibri"/>
              <a:cs typeface="Calibri"/>
            </a:endParaRPr>
          </a:p>
          <a:p>
            <a:pPr marL="767080" indent="-381000">
              <a:lnSpc>
                <a:spcPct val="100000"/>
              </a:lnSpc>
              <a:buAutoNum type="arabicPeriod"/>
              <a:tabLst>
                <a:tab pos="767080" algn="l"/>
              </a:tabLst>
            </a:pPr>
            <a:r>
              <a:rPr sz="3500" dirty="0">
                <a:latin typeface="Calibri"/>
                <a:cs typeface="Calibri"/>
              </a:rPr>
              <a:t>Phase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3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–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Add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suppression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system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for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incipient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fires.</a:t>
            </a: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3500" b="1" spc="-35" dirty="0">
                <a:latin typeface="Calibri"/>
                <a:cs typeface="Calibri"/>
              </a:rPr>
              <a:t>Technology</a:t>
            </a:r>
            <a:r>
              <a:rPr sz="3500" b="1" spc="-140" dirty="0">
                <a:latin typeface="Calibri"/>
                <a:cs typeface="Calibri"/>
              </a:rPr>
              <a:t> </a:t>
            </a:r>
            <a:r>
              <a:rPr sz="3500" b="1" dirty="0">
                <a:latin typeface="Calibri"/>
                <a:cs typeface="Calibri"/>
              </a:rPr>
              <a:t>Readiness</a:t>
            </a:r>
            <a:r>
              <a:rPr sz="3500" b="1" spc="-140" dirty="0">
                <a:latin typeface="Calibri"/>
                <a:cs typeface="Calibri"/>
              </a:rPr>
              <a:t> </a:t>
            </a:r>
            <a:r>
              <a:rPr sz="3500" b="1" dirty="0">
                <a:latin typeface="Calibri"/>
                <a:cs typeface="Calibri"/>
              </a:rPr>
              <a:t>Level</a:t>
            </a:r>
            <a:r>
              <a:rPr sz="3500" b="1" spc="-140" dirty="0">
                <a:latin typeface="Calibri"/>
                <a:cs typeface="Calibri"/>
              </a:rPr>
              <a:t> </a:t>
            </a:r>
            <a:r>
              <a:rPr sz="3500" b="1" spc="-10" dirty="0">
                <a:latin typeface="Calibri"/>
                <a:cs typeface="Calibri"/>
              </a:rPr>
              <a:t>(TRL):</a:t>
            </a:r>
            <a:endParaRPr sz="3500">
              <a:latin typeface="Calibri"/>
              <a:cs typeface="Calibri"/>
            </a:endParaRPr>
          </a:p>
          <a:p>
            <a:pPr marL="767715" marR="2441575">
              <a:lnSpc>
                <a:spcPct val="100000"/>
              </a:lnSpc>
            </a:pPr>
            <a:r>
              <a:rPr sz="3500" dirty="0">
                <a:latin typeface="Calibri"/>
                <a:cs typeface="Calibri"/>
              </a:rPr>
              <a:t>Current: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TRL</a:t>
            </a:r>
            <a:r>
              <a:rPr sz="3500" spc="-6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3–4</a:t>
            </a:r>
            <a:r>
              <a:rPr sz="3500" spc="-6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(concept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+</a:t>
            </a:r>
            <a:r>
              <a:rPr sz="3500" spc="-6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analytical</a:t>
            </a:r>
            <a:r>
              <a:rPr sz="3500" spc="-65" dirty="0">
                <a:latin typeface="Calibri"/>
                <a:cs typeface="Calibri"/>
              </a:rPr>
              <a:t> </a:t>
            </a:r>
            <a:r>
              <a:rPr sz="3500" spc="-45" dirty="0">
                <a:latin typeface="Calibri"/>
                <a:cs typeface="Calibri"/>
              </a:rPr>
              <a:t>proof-</a:t>
            </a:r>
            <a:r>
              <a:rPr sz="3500" spc="-50" dirty="0">
                <a:latin typeface="Calibri"/>
                <a:cs typeface="Calibri"/>
              </a:rPr>
              <a:t>of-</a:t>
            </a:r>
            <a:r>
              <a:rPr sz="3500" spc="-10" dirty="0">
                <a:latin typeface="Calibri"/>
                <a:cs typeface="Calibri"/>
              </a:rPr>
              <a:t>concept). </a:t>
            </a:r>
            <a:r>
              <a:rPr sz="3500" spc="-50" dirty="0">
                <a:latin typeface="Calibri"/>
                <a:cs typeface="Calibri"/>
              </a:rPr>
              <a:t>Target: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TRL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5–6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(prototype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validated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relevant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environment).</a:t>
            </a:r>
            <a:endParaRPr sz="3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916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pc="525" dirty="0"/>
              <a:t>Technology</a:t>
            </a:r>
            <a:r>
              <a:rPr spc="245" dirty="0"/>
              <a:t> </a:t>
            </a:r>
            <a:r>
              <a:rPr spc="595" dirty="0"/>
              <a:t>Stack</a:t>
            </a:r>
            <a:r>
              <a:rPr spc="250" dirty="0"/>
              <a:t> </a:t>
            </a:r>
            <a:r>
              <a:rPr spc="775" dirty="0"/>
              <a:t>&amp;</a:t>
            </a:r>
            <a:r>
              <a:rPr spc="250" dirty="0"/>
              <a:t> </a:t>
            </a:r>
            <a:r>
              <a:rPr spc="515" dirty="0"/>
              <a:t>Workflow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524" y="2210891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524" y="2772866"/>
            <a:ext cx="114300" cy="1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524" y="3334841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524" y="4458791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524" y="5020766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524" y="5582741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29865" y="1334940"/>
            <a:ext cx="14666594" cy="8591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4435"/>
              </a:lnSpc>
              <a:spcBef>
                <a:spcPts val="120"/>
              </a:spcBef>
            </a:pPr>
            <a:r>
              <a:rPr sz="3700" b="1" dirty="0">
                <a:latin typeface="Calibri"/>
                <a:cs typeface="Calibri"/>
              </a:rPr>
              <a:t>Hardware</a:t>
            </a:r>
            <a:r>
              <a:rPr sz="3700" b="1" spc="-45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Components:</a:t>
            </a:r>
            <a:endParaRPr sz="3700">
              <a:latin typeface="Calibri"/>
              <a:cs typeface="Calibri"/>
            </a:endParaRPr>
          </a:p>
          <a:p>
            <a:pPr marL="601980" marR="4101465">
              <a:lnSpc>
                <a:spcPts val="4430"/>
              </a:lnSpc>
              <a:spcBef>
                <a:spcPts val="150"/>
              </a:spcBef>
            </a:pPr>
            <a:r>
              <a:rPr sz="3700" dirty="0">
                <a:latin typeface="Calibri"/>
                <a:cs typeface="Calibri"/>
              </a:rPr>
              <a:t>Sensors:</a:t>
            </a:r>
            <a:r>
              <a:rPr sz="3700" spc="-3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Smoke,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temperature,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CO₂,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methane,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VOCs. </a:t>
            </a:r>
            <a:r>
              <a:rPr sz="3700" dirty="0">
                <a:latin typeface="Calibri"/>
                <a:cs typeface="Calibri"/>
              </a:rPr>
              <a:t>Power: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Solar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panels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with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low-</a:t>
            </a:r>
            <a:r>
              <a:rPr sz="3700" dirty="0">
                <a:latin typeface="Calibri"/>
                <a:cs typeface="Calibri"/>
              </a:rPr>
              <a:t>power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batteries.</a:t>
            </a:r>
            <a:endParaRPr sz="3700">
              <a:latin typeface="Calibri"/>
              <a:cs typeface="Calibri"/>
            </a:endParaRPr>
          </a:p>
          <a:p>
            <a:pPr marL="601980">
              <a:lnSpc>
                <a:spcPts val="4265"/>
              </a:lnSpc>
            </a:pPr>
            <a:r>
              <a:rPr sz="3700" dirty="0">
                <a:latin typeface="Calibri"/>
                <a:cs typeface="Calibri"/>
              </a:rPr>
              <a:t>Communication:</a:t>
            </a:r>
            <a:r>
              <a:rPr sz="3700" spc="-5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GSM/LoRa</a:t>
            </a:r>
            <a:r>
              <a:rPr sz="3700" spc="-3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for</a:t>
            </a:r>
            <a:r>
              <a:rPr sz="3700" spc="-3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alerts.</a:t>
            </a:r>
            <a:endParaRPr sz="3700">
              <a:latin typeface="Calibri"/>
              <a:cs typeface="Calibri"/>
            </a:endParaRPr>
          </a:p>
          <a:p>
            <a:pPr marL="12700">
              <a:lnSpc>
                <a:spcPts val="4425"/>
              </a:lnSpc>
            </a:pPr>
            <a:r>
              <a:rPr sz="3700" b="1" dirty="0">
                <a:latin typeface="Calibri"/>
                <a:cs typeface="Calibri"/>
              </a:rPr>
              <a:t>Software</a:t>
            </a:r>
            <a:r>
              <a:rPr sz="3700" b="1" spc="-45" dirty="0">
                <a:latin typeface="Calibri"/>
                <a:cs typeface="Calibri"/>
              </a:rPr>
              <a:t> </a:t>
            </a:r>
            <a:r>
              <a:rPr sz="3700" b="1" spc="-10" dirty="0">
                <a:latin typeface="Calibri"/>
                <a:cs typeface="Calibri"/>
              </a:rPr>
              <a:t>Components:</a:t>
            </a:r>
            <a:endParaRPr sz="3700">
              <a:latin typeface="Calibri"/>
              <a:cs typeface="Calibri"/>
            </a:endParaRPr>
          </a:p>
          <a:p>
            <a:pPr marL="601980" marR="5197475">
              <a:lnSpc>
                <a:spcPts val="4430"/>
              </a:lnSpc>
              <a:spcBef>
                <a:spcPts val="150"/>
              </a:spcBef>
            </a:pPr>
            <a:r>
              <a:rPr sz="3700" spc="-10" dirty="0">
                <a:latin typeface="Calibri"/>
                <a:cs typeface="Calibri"/>
              </a:rPr>
              <a:t>On-</a:t>
            </a:r>
            <a:r>
              <a:rPr sz="3700" dirty="0">
                <a:latin typeface="Calibri"/>
                <a:cs typeface="Calibri"/>
              </a:rPr>
              <a:t>device</a:t>
            </a:r>
            <a:r>
              <a:rPr sz="3700" spc="-2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edge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AI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for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anomaly</a:t>
            </a:r>
            <a:r>
              <a:rPr sz="3700" spc="-10" dirty="0">
                <a:latin typeface="Calibri"/>
                <a:cs typeface="Calibri"/>
              </a:rPr>
              <a:t> detection. </a:t>
            </a:r>
            <a:r>
              <a:rPr sz="3700" dirty="0">
                <a:latin typeface="Calibri"/>
                <a:cs typeface="Calibri"/>
              </a:rPr>
              <a:t>Cloud/Local</a:t>
            </a:r>
            <a:r>
              <a:rPr sz="3700" spc="-5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dashboards</a:t>
            </a:r>
            <a:r>
              <a:rPr sz="3700" spc="-3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for</a:t>
            </a:r>
            <a:r>
              <a:rPr sz="3700" spc="-4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monitoring</a:t>
            </a:r>
            <a:r>
              <a:rPr sz="3700" spc="-3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alerts. </a:t>
            </a:r>
            <a:r>
              <a:rPr sz="3700" dirty="0">
                <a:latin typeface="Calibri"/>
                <a:cs typeface="Calibri"/>
              </a:rPr>
              <a:t>Alert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delivery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via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SMS,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mobile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app,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and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sirens.</a:t>
            </a:r>
            <a:endParaRPr sz="3700">
              <a:latin typeface="Calibri"/>
              <a:cs typeface="Calibri"/>
            </a:endParaRPr>
          </a:p>
          <a:p>
            <a:pPr marL="12700">
              <a:lnSpc>
                <a:spcPts val="4260"/>
              </a:lnSpc>
            </a:pPr>
            <a:r>
              <a:rPr sz="3700" b="1" spc="-10" dirty="0">
                <a:latin typeface="Calibri"/>
                <a:cs typeface="Calibri"/>
              </a:rPr>
              <a:t>Workflow:</a:t>
            </a:r>
            <a:endParaRPr sz="3700">
              <a:latin typeface="Calibri"/>
              <a:cs typeface="Calibri"/>
            </a:endParaRPr>
          </a:p>
          <a:p>
            <a:pPr marL="601980" indent="-405765">
              <a:lnSpc>
                <a:spcPts val="4425"/>
              </a:lnSpc>
              <a:buAutoNum type="arabicPeriod"/>
              <a:tabLst>
                <a:tab pos="601980" algn="l"/>
              </a:tabLst>
            </a:pPr>
            <a:r>
              <a:rPr sz="3700" dirty="0">
                <a:latin typeface="Calibri"/>
                <a:cs typeface="Calibri"/>
              </a:rPr>
              <a:t>Sensors</a:t>
            </a:r>
            <a:r>
              <a:rPr sz="3700" spc="-3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detect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abnormal</a:t>
            </a:r>
            <a:r>
              <a:rPr sz="3700" spc="-2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rise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smoke/heat.</a:t>
            </a:r>
            <a:endParaRPr sz="3700">
              <a:latin typeface="Calibri"/>
              <a:cs typeface="Calibri"/>
            </a:endParaRPr>
          </a:p>
          <a:p>
            <a:pPr marL="601980" indent="-405765">
              <a:lnSpc>
                <a:spcPts val="4425"/>
              </a:lnSpc>
              <a:buAutoNum type="arabicPeriod"/>
              <a:tabLst>
                <a:tab pos="601980" algn="l"/>
              </a:tabLst>
            </a:pPr>
            <a:r>
              <a:rPr sz="3700" dirty="0">
                <a:latin typeface="Calibri"/>
                <a:cs typeface="Calibri"/>
              </a:rPr>
              <a:t>Edge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AI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validates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the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event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→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reduces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false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alarms.</a:t>
            </a:r>
            <a:endParaRPr sz="3700">
              <a:latin typeface="Calibri"/>
              <a:cs typeface="Calibri"/>
            </a:endParaRPr>
          </a:p>
          <a:p>
            <a:pPr marL="601980" indent="-405765">
              <a:lnSpc>
                <a:spcPts val="4425"/>
              </a:lnSpc>
              <a:buAutoNum type="arabicPeriod"/>
              <a:tabLst>
                <a:tab pos="601980" algn="l"/>
              </a:tabLst>
            </a:pPr>
            <a:r>
              <a:rPr sz="3700" dirty="0">
                <a:latin typeface="Calibri"/>
                <a:cs typeface="Calibri"/>
              </a:rPr>
              <a:t>Detection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pod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sends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alert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→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forest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guards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&amp;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villagers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notified.</a:t>
            </a:r>
            <a:endParaRPr sz="3700">
              <a:latin typeface="Calibri"/>
              <a:cs typeface="Calibri"/>
            </a:endParaRPr>
          </a:p>
          <a:p>
            <a:pPr marL="196215">
              <a:lnSpc>
                <a:spcPts val="4425"/>
              </a:lnSpc>
            </a:pPr>
            <a:r>
              <a:rPr sz="3700" dirty="0">
                <a:latin typeface="Calibri"/>
                <a:cs typeface="Calibri"/>
              </a:rPr>
              <a:t>4.(Future)</a:t>
            </a:r>
            <a:r>
              <a:rPr sz="3700" spc="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Suppression</a:t>
            </a:r>
            <a:r>
              <a:rPr sz="3700" spc="3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pod</a:t>
            </a:r>
            <a:r>
              <a:rPr sz="3700" spc="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triggers</a:t>
            </a:r>
            <a:r>
              <a:rPr sz="3700" spc="3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→</a:t>
            </a:r>
            <a:r>
              <a:rPr sz="3700" spc="3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mist/sand/bio-</a:t>
            </a:r>
            <a:r>
              <a:rPr sz="3700" dirty="0">
                <a:latin typeface="Calibri"/>
                <a:cs typeface="Calibri"/>
              </a:rPr>
              <a:t>gel</a:t>
            </a:r>
            <a:r>
              <a:rPr sz="3700" spc="3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deployed</a:t>
            </a:r>
            <a:r>
              <a:rPr sz="3700" spc="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on</a:t>
            </a:r>
            <a:r>
              <a:rPr sz="3700" spc="35" dirty="0">
                <a:latin typeface="Calibri"/>
                <a:cs typeface="Calibri"/>
              </a:rPr>
              <a:t> </a:t>
            </a:r>
            <a:r>
              <a:rPr sz="3700" spc="-20" dirty="0">
                <a:latin typeface="Calibri"/>
                <a:cs typeface="Calibri"/>
              </a:rPr>
              <a:t>spot.</a:t>
            </a:r>
            <a:endParaRPr sz="3700">
              <a:latin typeface="Calibri"/>
              <a:cs typeface="Calibri"/>
            </a:endParaRPr>
          </a:p>
          <a:p>
            <a:pPr marL="226060">
              <a:lnSpc>
                <a:spcPts val="4435"/>
              </a:lnSpc>
            </a:pPr>
            <a:r>
              <a:rPr sz="3700" dirty="0">
                <a:latin typeface="Calibri"/>
                <a:cs typeface="Calibri"/>
              </a:rPr>
              <a:t>5.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Data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stored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system</a:t>
            </a:r>
            <a:r>
              <a:rPr sz="3700" spc="-2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for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fire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pattern</a:t>
            </a:r>
            <a:r>
              <a:rPr sz="3700" spc="-1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analytics.</a:t>
            </a:r>
            <a:endParaRPr sz="37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spcBef>
                <a:spcPts val="3300"/>
              </a:spcBef>
              <a:tabLst>
                <a:tab pos="6602095" algn="l"/>
              </a:tabLst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	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02062" y="96266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9948353"/>
            <a:ext cx="10674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2090" y="10028240"/>
            <a:ext cx="26238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40200" y="10136395"/>
            <a:ext cx="343167" cy="224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50" dirty="0">
                <a:solidFill>
                  <a:srgbClr val="898989"/>
                </a:solidFill>
                <a:latin typeface="Calibri"/>
                <a:cs typeface="Calibri"/>
              </a:rPr>
              <a:t>9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86400" y="-70620"/>
            <a:ext cx="69761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95" dirty="0"/>
              <a:t>Competitor</a:t>
            </a:r>
            <a:r>
              <a:rPr spc="250" dirty="0"/>
              <a:t> </a:t>
            </a:r>
            <a:r>
              <a:rPr spc="550" dirty="0"/>
              <a:t>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209775-9760-71C7-2359-8D9CC49A2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91" y="857913"/>
            <a:ext cx="17503418" cy="90306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916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pc="509" dirty="0"/>
              <a:t>Unique</a:t>
            </a:r>
            <a:r>
              <a:rPr spc="254" dirty="0"/>
              <a:t> </a:t>
            </a:r>
            <a:r>
              <a:rPr spc="530" dirty="0"/>
              <a:t>Selling</a:t>
            </a:r>
            <a:r>
              <a:rPr spc="254" dirty="0"/>
              <a:t> </a:t>
            </a:r>
            <a:r>
              <a:rPr spc="500" dirty="0"/>
              <a:t>Proposition</a:t>
            </a:r>
            <a:r>
              <a:rPr spc="260" dirty="0"/>
              <a:t> </a:t>
            </a:r>
            <a:r>
              <a:rPr spc="625" dirty="0"/>
              <a:t>(USP)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8205" y="1573848"/>
            <a:ext cx="16743044" cy="7414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80"/>
              </a:lnSpc>
              <a:spcBef>
                <a:spcPts val="95"/>
              </a:spcBef>
            </a:pPr>
            <a:r>
              <a:rPr sz="3750" b="1" dirty="0">
                <a:latin typeface="Calibri"/>
                <a:cs typeface="Calibri"/>
              </a:rPr>
              <a:t>Early</a:t>
            </a:r>
            <a:r>
              <a:rPr sz="3750" b="1" spc="-90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Detection</a:t>
            </a:r>
            <a:r>
              <a:rPr sz="3750" b="1" spc="-85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+</a:t>
            </a:r>
            <a:r>
              <a:rPr sz="3750" b="1" spc="-85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Local</a:t>
            </a:r>
            <a:r>
              <a:rPr sz="3750" b="1" spc="-85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Suppression:</a:t>
            </a:r>
            <a:endParaRPr sz="3750">
              <a:latin typeface="Calibri"/>
              <a:cs typeface="Calibri"/>
            </a:endParaRPr>
          </a:p>
          <a:p>
            <a:pPr marL="549910" marR="267335">
              <a:lnSpc>
                <a:spcPts val="4460"/>
              </a:lnSpc>
              <a:spcBef>
                <a:spcPts val="160"/>
              </a:spcBef>
              <a:tabLst>
                <a:tab pos="13733780" algn="l"/>
              </a:tabLst>
            </a:pPr>
            <a:r>
              <a:rPr sz="3750" dirty="0">
                <a:latin typeface="Calibri"/>
                <a:cs typeface="Calibri"/>
              </a:rPr>
              <a:t>Unlike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existing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systems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that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only</a:t>
            </a:r>
            <a:r>
              <a:rPr sz="3750" spc="-6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detect,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our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pods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also</a:t>
            </a:r>
            <a:r>
              <a:rPr sz="3750" spc="-7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aim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to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spray</a:t>
            </a:r>
            <a:r>
              <a:rPr sz="3750" dirty="0">
                <a:latin typeface="Calibri"/>
                <a:cs typeface="Calibri"/>
              </a:rPr>
              <a:t>	sand</a:t>
            </a:r>
            <a:r>
              <a:rPr sz="3750" spc="-5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/</a:t>
            </a:r>
            <a:r>
              <a:rPr sz="3750" spc="-5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water</a:t>
            </a:r>
            <a:r>
              <a:rPr sz="3750" spc="-50" dirty="0">
                <a:latin typeface="Calibri"/>
                <a:cs typeface="Calibri"/>
              </a:rPr>
              <a:t> / </a:t>
            </a:r>
            <a:r>
              <a:rPr sz="3750" spc="-25" dirty="0">
                <a:latin typeface="Calibri"/>
                <a:cs typeface="Calibri"/>
              </a:rPr>
              <a:t>bio-</a:t>
            </a:r>
            <a:r>
              <a:rPr sz="3750" dirty="0">
                <a:latin typeface="Calibri"/>
                <a:cs typeface="Calibri"/>
              </a:rPr>
              <a:t>gel</a:t>
            </a:r>
            <a:r>
              <a:rPr sz="3750" spc="-5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for</a:t>
            </a:r>
            <a:r>
              <a:rPr sz="3750" spc="-5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initial</a:t>
            </a:r>
            <a:r>
              <a:rPr sz="3750" spc="-5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containment.</a:t>
            </a:r>
            <a:endParaRPr sz="3750">
              <a:latin typeface="Calibri"/>
              <a:cs typeface="Calibri"/>
            </a:endParaRPr>
          </a:p>
          <a:p>
            <a:pPr marL="12700">
              <a:lnSpc>
                <a:spcPts val="4480"/>
              </a:lnSpc>
              <a:spcBef>
                <a:spcPts val="975"/>
              </a:spcBef>
            </a:pPr>
            <a:r>
              <a:rPr sz="3750" b="1" spc="-25" dirty="0">
                <a:latin typeface="Calibri"/>
                <a:cs typeface="Calibri"/>
              </a:rPr>
              <a:t>Low-</a:t>
            </a:r>
            <a:r>
              <a:rPr sz="3750" b="1" dirty="0">
                <a:latin typeface="Calibri"/>
                <a:cs typeface="Calibri"/>
              </a:rPr>
              <a:t>Cost,</a:t>
            </a:r>
            <a:r>
              <a:rPr sz="3750" b="1" spc="-105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Scalable</a:t>
            </a:r>
            <a:r>
              <a:rPr sz="3750" b="1" spc="-105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Pods:</a:t>
            </a:r>
            <a:endParaRPr sz="3750">
              <a:latin typeface="Calibri"/>
              <a:cs typeface="Calibri"/>
            </a:endParaRPr>
          </a:p>
          <a:p>
            <a:pPr marL="549910">
              <a:lnSpc>
                <a:spcPts val="4480"/>
              </a:lnSpc>
            </a:pPr>
            <a:r>
              <a:rPr sz="3750" dirty="0">
                <a:latin typeface="Calibri"/>
                <a:cs typeface="Calibri"/>
              </a:rPr>
              <a:t>Affordable,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spc="-25" dirty="0">
                <a:latin typeface="Calibri"/>
                <a:cs typeface="Calibri"/>
              </a:rPr>
              <a:t>solar-</a:t>
            </a:r>
            <a:r>
              <a:rPr sz="3750" dirty="0">
                <a:latin typeface="Calibri"/>
                <a:cs typeface="Calibri"/>
              </a:rPr>
              <a:t>powered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units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that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can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be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widely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deployed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in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rural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&amp;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forest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areas.</a:t>
            </a:r>
            <a:endParaRPr sz="3750">
              <a:latin typeface="Calibri"/>
              <a:cs typeface="Calibri"/>
            </a:endParaRPr>
          </a:p>
          <a:p>
            <a:pPr marL="12700">
              <a:lnSpc>
                <a:spcPts val="4480"/>
              </a:lnSpc>
              <a:spcBef>
                <a:spcPts val="1115"/>
              </a:spcBef>
            </a:pPr>
            <a:r>
              <a:rPr sz="3750" b="1" spc="-10" dirty="0">
                <a:latin typeface="Calibri"/>
                <a:cs typeface="Calibri"/>
              </a:rPr>
              <a:t>Connectivity</a:t>
            </a:r>
            <a:r>
              <a:rPr sz="3750" b="1" spc="-95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in</a:t>
            </a:r>
            <a:r>
              <a:rPr sz="3750" b="1" spc="-90" dirty="0">
                <a:latin typeface="Calibri"/>
                <a:cs typeface="Calibri"/>
              </a:rPr>
              <a:t> </a:t>
            </a:r>
            <a:r>
              <a:rPr sz="3750" b="1" dirty="0">
                <a:latin typeface="Calibri"/>
                <a:cs typeface="Calibri"/>
              </a:rPr>
              <a:t>Remote</a:t>
            </a:r>
            <a:r>
              <a:rPr sz="3750" b="1" spc="-90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Areas:</a:t>
            </a:r>
            <a:endParaRPr sz="3750">
              <a:latin typeface="Calibri"/>
              <a:cs typeface="Calibri"/>
            </a:endParaRPr>
          </a:p>
          <a:p>
            <a:pPr marL="549910">
              <a:lnSpc>
                <a:spcPts val="4480"/>
              </a:lnSpc>
            </a:pPr>
            <a:r>
              <a:rPr sz="3750" dirty="0">
                <a:latin typeface="Calibri"/>
                <a:cs typeface="Calibri"/>
              </a:rPr>
              <a:t>Works</a:t>
            </a:r>
            <a:r>
              <a:rPr sz="3750" spc="-8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with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LoRa/GSM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mesh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network,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ensuring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alerts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even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in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spc="-30" dirty="0">
                <a:latin typeface="Calibri"/>
                <a:cs typeface="Calibri"/>
              </a:rPr>
              <a:t>no-</a:t>
            </a:r>
            <a:r>
              <a:rPr sz="3750" dirty="0">
                <a:latin typeface="Calibri"/>
                <a:cs typeface="Calibri"/>
              </a:rPr>
              <a:t>internet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zones.</a:t>
            </a:r>
            <a:endParaRPr sz="3750">
              <a:latin typeface="Calibri"/>
              <a:cs typeface="Calibri"/>
            </a:endParaRPr>
          </a:p>
          <a:p>
            <a:pPr marL="12700">
              <a:lnSpc>
                <a:spcPts val="4480"/>
              </a:lnSpc>
              <a:spcBef>
                <a:spcPts val="1115"/>
              </a:spcBef>
            </a:pPr>
            <a:r>
              <a:rPr sz="3750" b="1" spc="-20" dirty="0">
                <a:latin typeface="Calibri"/>
                <a:cs typeface="Calibri"/>
              </a:rPr>
              <a:t>Eco-</a:t>
            </a:r>
            <a:r>
              <a:rPr sz="3750" b="1" spc="-10" dirty="0">
                <a:latin typeface="Calibri"/>
                <a:cs typeface="Calibri"/>
              </a:rPr>
              <a:t>Sustainable</a:t>
            </a:r>
            <a:r>
              <a:rPr sz="3750" b="1" spc="-85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Approach:</a:t>
            </a:r>
            <a:endParaRPr sz="3750">
              <a:latin typeface="Calibri"/>
              <a:cs typeface="Calibri"/>
            </a:endParaRPr>
          </a:p>
          <a:p>
            <a:pPr marL="549910">
              <a:lnSpc>
                <a:spcPts val="4480"/>
              </a:lnSpc>
            </a:pPr>
            <a:r>
              <a:rPr sz="3750" dirty="0">
                <a:latin typeface="Calibri"/>
                <a:cs typeface="Calibri"/>
              </a:rPr>
              <a:t>Uses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minimal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resources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(solar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energy,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localized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spraying)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with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low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carbon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footprint.</a:t>
            </a:r>
            <a:endParaRPr sz="3750">
              <a:latin typeface="Calibri"/>
              <a:cs typeface="Calibri"/>
            </a:endParaRPr>
          </a:p>
          <a:p>
            <a:pPr marL="12700">
              <a:lnSpc>
                <a:spcPts val="4480"/>
              </a:lnSpc>
              <a:spcBef>
                <a:spcPts val="1115"/>
              </a:spcBef>
            </a:pPr>
            <a:r>
              <a:rPr sz="3750" b="1" spc="-30" dirty="0">
                <a:latin typeface="Calibri"/>
                <a:cs typeface="Calibri"/>
              </a:rPr>
              <a:t>MSME-</a:t>
            </a:r>
            <a:r>
              <a:rPr sz="3750" b="1" dirty="0">
                <a:latin typeface="Calibri"/>
                <a:cs typeface="Calibri"/>
              </a:rPr>
              <a:t>Centric</a:t>
            </a:r>
            <a:r>
              <a:rPr sz="3750" b="1" spc="-120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Manufacturing:</a:t>
            </a:r>
            <a:endParaRPr sz="3750">
              <a:latin typeface="Calibri"/>
              <a:cs typeface="Calibri"/>
            </a:endParaRPr>
          </a:p>
          <a:p>
            <a:pPr marL="549910" marR="1257300">
              <a:lnSpc>
                <a:spcPts val="4460"/>
              </a:lnSpc>
              <a:spcBef>
                <a:spcPts val="120"/>
              </a:spcBef>
            </a:pPr>
            <a:r>
              <a:rPr sz="3750" dirty="0">
                <a:latin typeface="Calibri"/>
                <a:cs typeface="Calibri"/>
              </a:rPr>
              <a:t>Pods</a:t>
            </a:r>
            <a:r>
              <a:rPr sz="3750" spc="-8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can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be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assembled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and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deployed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by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local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MSMEs,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creating</a:t>
            </a:r>
            <a:r>
              <a:rPr sz="3750" spc="-8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jobs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and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rural </a:t>
            </a:r>
            <a:r>
              <a:rPr sz="3750" spc="-10" dirty="0">
                <a:latin typeface="Calibri"/>
                <a:cs typeface="Calibri"/>
              </a:rPr>
              <a:t>empowerment.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4599" y="9626601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9677" y="9626601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6274" y="962660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8989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20" dirty="0"/>
              <a:t>Business</a:t>
            </a:r>
            <a:r>
              <a:rPr spc="245" dirty="0"/>
              <a:t> </a:t>
            </a:r>
            <a:r>
              <a:rPr spc="60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334" y="2466917"/>
            <a:ext cx="119021" cy="1190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334" y="3032269"/>
            <a:ext cx="119021" cy="1190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334" y="3597622"/>
            <a:ext cx="119021" cy="1190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334" y="4162974"/>
            <a:ext cx="119021" cy="11902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9793" y="1591311"/>
            <a:ext cx="7415530" cy="3423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75"/>
              </a:lnSpc>
              <a:spcBef>
                <a:spcPts val="95"/>
              </a:spcBef>
            </a:pPr>
            <a:r>
              <a:rPr sz="3750" b="1" dirty="0">
                <a:latin typeface="Calibri"/>
                <a:cs typeface="Calibri"/>
              </a:rPr>
              <a:t>Target</a:t>
            </a:r>
            <a:r>
              <a:rPr sz="3750" b="1" spc="-110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Customers:</a:t>
            </a:r>
            <a:endParaRPr sz="3750">
              <a:latin typeface="Calibri"/>
              <a:cs typeface="Calibri"/>
            </a:endParaRPr>
          </a:p>
          <a:p>
            <a:pPr marL="821690">
              <a:lnSpc>
                <a:spcPts val="4450"/>
              </a:lnSpc>
            </a:pPr>
            <a:r>
              <a:rPr sz="3750" dirty="0">
                <a:latin typeface="Calibri"/>
                <a:cs typeface="Calibri"/>
              </a:rPr>
              <a:t>Forest</a:t>
            </a:r>
            <a:r>
              <a:rPr sz="3750" spc="-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departments.</a:t>
            </a:r>
            <a:endParaRPr sz="3750">
              <a:latin typeface="Calibri"/>
              <a:cs typeface="Calibri"/>
            </a:endParaRPr>
          </a:p>
          <a:p>
            <a:pPr marL="821690" marR="5080">
              <a:lnSpc>
                <a:spcPts val="4450"/>
              </a:lnSpc>
              <a:spcBef>
                <a:spcPts val="170"/>
              </a:spcBef>
            </a:pPr>
            <a:r>
              <a:rPr sz="3750" dirty="0">
                <a:latin typeface="Calibri"/>
                <a:cs typeface="Calibri"/>
              </a:rPr>
              <a:t>Disaster</a:t>
            </a:r>
            <a:r>
              <a:rPr sz="3750" spc="-17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management</a:t>
            </a:r>
            <a:r>
              <a:rPr sz="3750" spc="-17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authorities. </a:t>
            </a:r>
            <a:r>
              <a:rPr sz="3750" dirty="0">
                <a:latin typeface="Calibri"/>
                <a:cs typeface="Calibri"/>
              </a:rPr>
              <a:t>NGOs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&amp;</a:t>
            </a:r>
            <a:r>
              <a:rPr sz="3750" spc="-70" dirty="0">
                <a:latin typeface="Calibri"/>
                <a:cs typeface="Calibri"/>
              </a:rPr>
              <a:t> </a:t>
            </a:r>
            <a:r>
              <a:rPr sz="3750" spc="-25" dirty="0">
                <a:latin typeface="Calibri"/>
                <a:cs typeface="Calibri"/>
              </a:rPr>
              <a:t>eco-</a:t>
            </a:r>
            <a:r>
              <a:rPr sz="3750" dirty="0">
                <a:latin typeface="Calibri"/>
                <a:cs typeface="Calibri"/>
              </a:rPr>
              <a:t>tourism</a:t>
            </a:r>
            <a:r>
              <a:rPr sz="3750" spc="-7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operators.</a:t>
            </a:r>
            <a:endParaRPr sz="3750">
              <a:latin typeface="Calibri"/>
              <a:cs typeface="Calibri"/>
            </a:endParaRPr>
          </a:p>
          <a:p>
            <a:pPr marL="765810" marR="1062355" indent="55244">
              <a:lnSpc>
                <a:spcPts val="4450"/>
              </a:lnSpc>
            </a:pPr>
            <a:r>
              <a:rPr sz="3750" dirty="0">
                <a:latin typeface="Calibri"/>
                <a:cs typeface="Calibri"/>
              </a:rPr>
              <a:t>Smart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city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projects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&amp;</a:t>
            </a:r>
            <a:r>
              <a:rPr sz="3750" spc="-7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private </a:t>
            </a:r>
            <a:r>
              <a:rPr sz="3750" dirty="0">
                <a:latin typeface="Calibri"/>
                <a:cs typeface="Calibri"/>
              </a:rPr>
              <a:t>eco-</a:t>
            </a:r>
            <a:r>
              <a:rPr sz="3750" spc="-10" dirty="0">
                <a:latin typeface="Calibri"/>
                <a:cs typeface="Calibri"/>
              </a:rPr>
              <a:t>reserves.</a:t>
            </a:r>
            <a:endParaRPr sz="37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8334" y="6424382"/>
            <a:ext cx="119021" cy="1190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334" y="6989735"/>
            <a:ext cx="119021" cy="1190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8334" y="8120439"/>
            <a:ext cx="119021" cy="11902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49793" y="5548776"/>
            <a:ext cx="7362825" cy="3423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75"/>
              </a:lnSpc>
              <a:spcBef>
                <a:spcPts val="95"/>
              </a:spcBef>
            </a:pPr>
            <a:r>
              <a:rPr sz="3750" b="1" dirty="0">
                <a:latin typeface="Calibri"/>
                <a:cs typeface="Calibri"/>
              </a:rPr>
              <a:t>Revenue</a:t>
            </a:r>
            <a:r>
              <a:rPr sz="3750" b="1" spc="-145" dirty="0">
                <a:latin typeface="Calibri"/>
                <a:cs typeface="Calibri"/>
              </a:rPr>
              <a:t> </a:t>
            </a:r>
            <a:r>
              <a:rPr sz="3750" b="1" spc="-10" dirty="0">
                <a:latin typeface="Calibri"/>
                <a:cs typeface="Calibri"/>
              </a:rPr>
              <a:t>Streams:</a:t>
            </a:r>
            <a:endParaRPr sz="3750">
              <a:latin typeface="Calibri"/>
              <a:cs typeface="Calibri"/>
            </a:endParaRPr>
          </a:p>
          <a:p>
            <a:pPr marL="821690">
              <a:lnSpc>
                <a:spcPts val="4450"/>
              </a:lnSpc>
            </a:pPr>
            <a:r>
              <a:rPr sz="3750" dirty="0">
                <a:latin typeface="Calibri"/>
                <a:cs typeface="Calibri"/>
              </a:rPr>
              <a:t>Sale</a:t>
            </a:r>
            <a:r>
              <a:rPr sz="3750" spc="-4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of</a:t>
            </a:r>
            <a:r>
              <a:rPr sz="3750" spc="-3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detection</a:t>
            </a:r>
            <a:r>
              <a:rPr sz="3750" spc="-3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pods.</a:t>
            </a:r>
            <a:endParaRPr sz="3750">
              <a:latin typeface="Calibri"/>
              <a:cs typeface="Calibri"/>
            </a:endParaRPr>
          </a:p>
          <a:p>
            <a:pPr marL="765810" marR="235585" indent="55244">
              <a:lnSpc>
                <a:spcPts val="4450"/>
              </a:lnSpc>
              <a:spcBef>
                <a:spcPts val="170"/>
              </a:spcBef>
            </a:pPr>
            <a:r>
              <a:rPr sz="3750" dirty="0">
                <a:latin typeface="Calibri"/>
                <a:cs typeface="Calibri"/>
              </a:rPr>
              <a:t>Annual</a:t>
            </a:r>
            <a:r>
              <a:rPr sz="3750" spc="-13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maintenance</a:t>
            </a:r>
            <a:r>
              <a:rPr sz="3750" spc="-12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and</a:t>
            </a:r>
            <a:r>
              <a:rPr sz="3750" spc="-12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service contracts.</a:t>
            </a:r>
            <a:endParaRPr sz="3750">
              <a:latin typeface="Calibri"/>
              <a:cs typeface="Calibri"/>
            </a:endParaRPr>
          </a:p>
          <a:p>
            <a:pPr marL="765810" marR="5080" indent="55244">
              <a:lnSpc>
                <a:spcPts val="4450"/>
              </a:lnSpc>
            </a:pPr>
            <a:r>
              <a:rPr sz="3750" dirty="0">
                <a:latin typeface="Calibri"/>
                <a:cs typeface="Calibri"/>
              </a:rPr>
              <a:t>Subscription</a:t>
            </a:r>
            <a:r>
              <a:rPr sz="3750" spc="-12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for</a:t>
            </a:r>
            <a:r>
              <a:rPr sz="3750" spc="-12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fire</a:t>
            </a:r>
            <a:r>
              <a:rPr sz="3750" spc="-12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monitoring</a:t>
            </a:r>
            <a:r>
              <a:rPr sz="3750" spc="-120" dirty="0">
                <a:latin typeface="Calibri"/>
                <a:cs typeface="Calibri"/>
              </a:rPr>
              <a:t> </a:t>
            </a:r>
            <a:r>
              <a:rPr sz="3750" spc="-50" dirty="0">
                <a:latin typeface="Calibri"/>
                <a:cs typeface="Calibri"/>
              </a:rPr>
              <a:t>&amp; </a:t>
            </a:r>
            <a:r>
              <a:rPr sz="3750" spc="-10" dirty="0">
                <a:latin typeface="Calibri"/>
                <a:cs typeface="Calibri"/>
              </a:rPr>
              <a:t>environmental</a:t>
            </a:r>
            <a:r>
              <a:rPr sz="3750" spc="-100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data.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8569" y="9626601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92388" y="9626601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86274" y="962660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8989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76782" y="2639675"/>
            <a:ext cx="121328" cy="12132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76782" y="3792294"/>
            <a:ext cx="121328" cy="12132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76782" y="4368605"/>
            <a:ext cx="121328" cy="12132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948435" y="1747343"/>
            <a:ext cx="8692515" cy="34893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4550"/>
              </a:lnSpc>
              <a:spcBef>
                <a:spcPts val="120"/>
              </a:spcBef>
            </a:pPr>
            <a:r>
              <a:rPr sz="3800" b="1" spc="-10" dirty="0">
                <a:latin typeface="Calibri"/>
                <a:cs typeface="Calibri"/>
              </a:rPr>
              <a:t>Partnerships:</a:t>
            </a:r>
            <a:endParaRPr sz="3800">
              <a:latin typeface="Calibri"/>
              <a:cs typeface="Calibri"/>
            </a:endParaRPr>
          </a:p>
          <a:p>
            <a:pPr marL="837565" marR="1233805">
              <a:lnSpc>
                <a:spcPts val="4540"/>
              </a:lnSpc>
              <a:spcBef>
                <a:spcPts val="155"/>
              </a:spcBef>
            </a:pPr>
            <a:r>
              <a:rPr sz="3800" dirty="0">
                <a:latin typeface="Calibri"/>
                <a:cs typeface="Calibri"/>
              </a:rPr>
              <a:t>MSMEs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local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manufacturing</a:t>
            </a:r>
            <a:r>
              <a:rPr sz="3800" spc="-45" dirty="0">
                <a:latin typeface="Calibri"/>
                <a:cs typeface="Calibri"/>
              </a:rPr>
              <a:t> </a:t>
            </a:r>
            <a:r>
              <a:rPr sz="3800" spc="-50" dirty="0">
                <a:latin typeface="Calibri"/>
                <a:cs typeface="Calibri"/>
              </a:rPr>
              <a:t>&amp; </a:t>
            </a:r>
            <a:r>
              <a:rPr sz="3800" spc="-10" dirty="0">
                <a:latin typeface="Calibri"/>
                <a:cs typeface="Calibri"/>
              </a:rPr>
              <a:t>deployment.</a:t>
            </a:r>
            <a:endParaRPr sz="3800">
              <a:latin typeface="Calibri"/>
              <a:cs typeface="Calibri"/>
            </a:endParaRPr>
          </a:p>
          <a:p>
            <a:pPr marL="837565">
              <a:lnSpc>
                <a:spcPts val="4375"/>
              </a:lnSpc>
            </a:pPr>
            <a:r>
              <a:rPr sz="3800" dirty="0">
                <a:latin typeface="Calibri"/>
                <a:cs typeface="Calibri"/>
              </a:rPr>
              <a:t>Governments</a:t>
            </a:r>
            <a:r>
              <a:rPr sz="3800" spc="-8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75" dirty="0">
                <a:latin typeface="Calibri"/>
                <a:cs typeface="Calibri"/>
              </a:rPr>
              <a:t> </a:t>
            </a:r>
            <a:r>
              <a:rPr sz="3800" spc="-15" dirty="0">
                <a:latin typeface="Calibri"/>
                <a:cs typeface="Calibri"/>
              </a:rPr>
              <a:t>large-</a:t>
            </a:r>
            <a:r>
              <a:rPr sz="3800" dirty="0">
                <a:latin typeface="Calibri"/>
                <a:cs typeface="Calibri"/>
              </a:rPr>
              <a:t>scale</a:t>
            </a:r>
            <a:r>
              <a:rPr sz="3800" spc="-7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adoption.</a:t>
            </a:r>
            <a:endParaRPr sz="3800">
              <a:latin typeface="Calibri"/>
              <a:cs typeface="Calibri"/>
            </a:endParaRPr>
          </a:p>
          <a:p>
            <a:pPr marL="837565" marR="5080">
              <a:lnSpc>
                <a:spcPts val="4540"/>
              </a:lnSpc>
              <a:spcBef>
                <a:spcPts val="115"/>
              </a:spcBef>
            </a:pPr>
            <a:r>
              <a:rPr sz="3800" dirty="0">
                <a:latin typeface="Calibri"/>
                <a:cs typeface="Calibri"/>
              </a:rPr>
              <a:t>Research</a:t>
            </a:r>
            <a:r>
              <a:rPr sz="3800" spc="-8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institutes</a:t>
            </a:r>
            <a:r>
              <a:rPr sz="3800" spc="-8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8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AI-</a:t>
            </a:r>
            <a:r>
              <a:rPr sz="3800" dirty="0">
                <a:latin typeface="Calibri"/>
                <a:cs typeface="Calibri"/>
              </a:rPr>
              <a:t>fire</a:t>
            </a:r>
            <a:r>
              <a:rPr sz="3800" spc="-8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prediction integration.</a:t>
            </a:r>
            <a:endParaRPr sz="3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76782" y="6673844"/>
            <a:ext cx="121328" cy="12132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76782" y="7250154"/>
            <a:ext cx="121328" cy="12132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76782" y="8402773"/>
            <a:ext cx="121328" cy="12132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948435" y="5781513"/>
            <a:ext cx="7648575" cy="2913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4550"/>
              </a:lnSpc>
              <a:spcBef>
                <a:spcPts val="120"/>
              </a:spcBef>
            </a:pPr>
            <a:r>
              <a:rPr sz="3800" b="1" dirty="0">
                <a:latin typeface="Calibri"/>
                <a:cs typeface="Calibri"/>
              </a:rPr>
              <a:t>Future</a:t>
            </a:r>
            <a:r>
              <a:rPr sz="3800" b="1" spc="-4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Scope:</a:t>
            </a:r>
            <a:endParaRPr sz="3800">
              <a:latin typeface="Calibri"/>
              <a:cs typeface="Calibri"/>
            </a:endParaRPr>
          </a:p>
          <a:p>
            <a:pPr marL="837565" marR="256540">
              <a:lnSpc>
                <a:spcPts val="4540"/>
              </a:lnSpc>
              <a:spcBef>
                <a:spcPts val="155"/>
              </a:spcBef>
            </a:pPr>
            <a:r>
              <a:rPr sz="3800" dirty="0">
                <a:latin typeface="Calibri"/>
                <a:cs typeface="Calibri"/>
              </a:rPr>
              <a:t>Commercialize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suppression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pods. </a:t>
            </a:r>
            <a:r>
              <a:rPr sz="3800" dirty="0">
                <a:latin typeface="Calibri"/>
                <a:cs typeface="Calibri"/>
              </a:rPr>
              <a:t>Create</a:t>
            </a:r>
            <a:r>
              <a:rPr sz="3800" spc="-8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AI-driven</a:t>
            </a:r>
            <a:r>
              <a:rPr sz="3800" spc="-8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fire</a:t>
            </a:r>
            <a:r>
              <a:rPr sz="3800" spc="-7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prediction dashboards.</a:t>
            </a:r>
            <a:endParaRPr sz="3800">
              <a:latin typeface="Calibri"/>
              <a:cs typeface="Calibri"/>
            </a:endParaRPr>
          </a:p>
          <a:p>
            <a:pPr marL="837565">
              <a:lnSpc>
                <a:spcPts val="4385"/>
              </a:lnSpc>
            </a:pPr>
            <a:r>
              <a:rPr sz="3800" dirty="0">
                <a:latin typeface="Calibri"/>
                <a:cs typeface="Calibri"/>
              </a:rPr>
              <a:t>Export</a:t>
            </a:r>
            <a:r>
              <a:rPr sz="3800" spc="-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-2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wildfire-</a:t>
            </a:r>
            <a:r>
              <a:rPr sz="3800" dirty="0">
                <a:latin typeface="Calibri"/>
                <a:cs typeface="Calibri"/>
              </a:rPr>
              <a:t>prone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countries.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46195" y="6270162"/>
            <a:ext cx="612584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1" spc="910" dirty="0">
                <a:latin typeface="Trebuchet MS"/>
                <a:cs typeface="Trebuchet MS"/>
              </a:rPr>
              <a:t>Thank</a:t>
            </a:r>
            <a:r>
              <a:rPr sz="8100" b="1" spc="409" dirty="0">
                <a:latin typeface="Trebuchet MS"/>
                <a:cs typeface="Trebuchet MS"/>
              </a:rPr>
              <a:t> </a:t>
            </a:r>
            <a:r>
              <a:rPr sz="8100" b="1" spc="915" dirty="0">
                <a:latin typeface="Trebuchet MS"/>
                <a:cs typeface="Trebuchet MS"/>
              </a:rPr>
              <a:t>You</a:t>
            </a:r>
            <a:endParaRPr sz="8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599" y="9626601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18-08-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9677" y="9626601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MSME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Hackathon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5.0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898989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898989"/>
                </a:solidFill>
                <a:latin typeface="Calibri"/>
                <a:cs typeface="Calibri"/>
              </a:rPr>
              <a:t> SECE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86274" y="962660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98989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365375" marR="5080" indent="-2353310">
              <a:lnSpc>
                <a:spcPts val="8250"/>
              </a:lnSpc>
              <a:spcBef>
                <a:spcPts val="265"/>
              </a:spcBef>
            </a:pPr>
            <a:r>
              <a:rPr spc="245" dirty="0"/>
              <a:t>“Detect</a:t>
            </a:r>
            <a:r>
              <a:rPr spc="30" dirty="0"/>
              <a:t> </a:t>
            </a:r>
            <a:r>
              <a:rPr spc="125" dirty="0"/>
              <a:t>e</a:t>
            </a:r>
            <a:r>
              <a:rPr spc="130" dirty="0"/>
              <a:t>a</a:t>
            </a:r>
            <a:r>
              <a:rPr spc="90" dirty="0"/>
              <a:t>r</a:t>
            </a:r>
            <a:r>
              <a:rPr spc="-20" dirty="0"/>
              <a:t>l</a:t>
            </a:r>
            <a:r>
              <a:rPr spc="-470" dirty="0"/>
              <a:t>y</a:t>
            </a:r>
            <a:r>
              <a:rPr spc="135" dirty="0"/>
              <a:t>,</a:t>
            </a:r>
            <a:r>
              <a:rPr spc="35" dirty="0"/>
              <a:t> </a:t>
            </a:r>
            <a:r>
              <a:rPr spc="220" dirty="0"/>
              <a:t>respond</a:t>
            </a:r>
            <a:r>
              <a:rPr spc="35" dirty="0"/>
              <a:t> </a:t>
            </a:r>
            <a:r>
              <a:rPr spc="170" dirty="0"/>
              <a:t>i</a:t>
            </a:r>
            <a:r>
              <a:rPr spc="175" dirty="0"/>
              <a:t>n</a:t>
            </a:r>
            <a:r>
              <a:rPr spc="170" dirty="0"/>
              <a:t>s</a:t>
            </a:r>
            <a:r>
              <a:rPr spc="175" dirty="0"/>
              <a:t>tant</a:t>
            </a:r>
            <a:r>
              <a:rPr spc="25" dirty="0"/>
              <a:t>l</a:t>
            </a:r>
            <a:r>
              <a:rPr spc="-425" dirty="0"/>
              <a:t>y</a:t>
            </a:r>
            <a:r>
              <a:rPr spc="180" dirty="0"/>
              <a:t>,</a:t>
            </a:r>
            <a:r>
              <a:rPr spc="95" dirty="0"/>
              <a:t> </a:t>
            </a:r>
            <a:r>
              <a:rPr spc="210" dirty="0"/>
              <a:t>protect</a:t>
            </a:r>
            <a:r>
              <a:rPr spc="30" dirty="0"/>
              <a:t> </a:t>
            </a:r>
            <a:r>
              <a:rPr spc="145" dirty="0"/>
              <a:t>sustainably”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1154</Words>
  <Application>Microsoft Office PowerPoint</Application>
  <PresentationFormat>Custom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Times New Roman</vt:lpstr>
      <vt:lpstr>Trebuchet MS</vt:lpstr>
      <vt:lpstr>Office Theme</vt:lpstr>
      <vt:lpstr>PowerPoint Presentation</vt:lpstr>
      <vt:lpstr>Problem Statement</vt:lpstr>
      <vt:lpstr>Market Size and Statistics</vt:lpstr>
      <vt:lpstr>Gap Analyzed with Existing Solutions</vt:lpstr>
      <vt:lpstr>Proposed Solution</vt:lpstr>
      <vt:lpstr>Sustainable Development Goals (SDG)</vt:lpstr>
      <vt:lpstr>Prototype</vt:lpstr>
      <vt:lpstr>Technology Stack &amp; Workflow</vt:lpstr>
      <vt:lpstr>Competitor Analysis</vt:lpstr>
      <vt:lpstr>Unique Selling Proposition (USP)</vt:lpstr>
      <vt:lpstr>Business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MSME Idea Hackathon 5.0 Template.pptx</dc:title>
  <dc:creator>PRIYAVARSHINI V CSE(AIML)</dc:creator>
  <cp:keywords>DAGwQPb5gwQ,BAGfJE47t1o,0</cp:keywords>
  <cp:lastModifiedBy>PRIYAVARSHINI VARATHARAJAN</cp:lastModifiedBy>
  <cp:revision>1</cp:revision>
  <dcterms:created xsi:type="dcterms:W3CDTF">2025-08-18T08:21:37Z</dcterms:created>
  <dcterms:modified xsi:type="dcterms:W3CDTF">2025-08-18T08:29:28Z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2025-08-18T00:00:00Z</vt:filetime>
  </property>
  <property fmtid="{D5CDD505-2E9C-101B-9397-08002B2CF9AE}" pid="5" name="Producer">
    <vt:lpwstr>Canva</vt:lpwstr>
  </property>
</Properties>
</file>